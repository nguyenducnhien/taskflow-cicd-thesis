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5ED6065-2B1B-4902-8402-D7FC2794F8C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5F4BD0-1815-41C3-89B6-38F6CBBE500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A4CAB8-A8E8-4BC3-8C13-E8D11716294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B8A0AA-1ED0-41FD-B573-B7D0DB9E7B6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5757B0-8CB5-4FEF-A699-B7A58136FE7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5BC875-AB8C-4C7A-B873-4D7A4A11CFA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E3ACB9-9406-4E74-A20D-4B18F78EA18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77AD73-1D33-4625-93D3-0027644835B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CA09BF-5F1B-4F7E-94F0-BF1BAD14A55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982B6B-42CC-4771-8EBF-19139C4532F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C91671-7A55-48B7-B8C7-14962886149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5FB6E7-CF5E-45B4-9CB5-FA4D0F57B46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409C7E-91B6-490E-9DD9-F1E5FD7CEAD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282C2-3F67-42F8-991E-5052C7DD086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0C3653-E127-44CE-9D56-646923F0EC8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4B5171-2051-4A72-84F6-5FC130619C5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9D277C-813F-438E-AF17-8903EE557E5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2F1F5B-0AF4-453F-9608-CF521EF2409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E3A4F5-3196-4250-B968-FA0196A1E77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863A17-F64F-4A15-ACE3-B7A99B72028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995764-0F96-484F-9098-FC981A40A3B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818120" y="822960"/>
            <a:ext cx="475200" cy="475200"/>
          </a:xfrm>
          <a:prstGeom prst="ellipse">
            <a:avLst/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" name="Image 0" descr="icon_codebranch_teal.png"/>
          <p:cNvPicPr/>
          <p:nvPr/>
        </p:nvPicPr>
        <p:blipFill>
          <a:blip r:embed="rId3"/>
          <a:stretch/>
        </p:blipFill>
        <p:spPr>
          <a:xfrm>
            <a:off x="7941600" y="94644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10" name="Shape 1"/>
          <p:cNvSpPr/>
          <p:nvPr/>
        </p:nvSpPr>
        <p:spPr>
          <a:xfrm>
            <a:off x="8293320" y="1060560"/>
            <a:ext cx="658440" cy="360"/>
          </a:xfrm>
          <a:prstGeom prst="line">
            <a:avLst/>
          </a:prstGeom>
          <a:ln w="19050">
            <a:solidFill>
              <a:srgbClr val="2A3F6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8952120" y="822960"/>
            <a:ext cx="475200" cy="475200"/>
          </a:xfrm>
          <a:prstGeom prst="ellipse">
            <a:avLst/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Image 1" descr="icon_vial_teal.png"/>
          <p:cNvPicPr/>
          <p:nvPr/>
        </p:nvPicPr>
        <p:blipFill>
          <a:blip r:embed="rId4"/>
          <a:stretch/>
        </p:blipFill>
        <p:spPr>
          <a:xfrm>
            <a:off x="9075600" y="94644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13" name="Shape 3"/>
          <p:cNvSpPr/>
          <p:nvPr/>
        </p:nvSpPr>
        <p:spPr>
          <a:xfrm>
            <a:off x="9427320" y="1060560"/>
            <a:ext cx="658440" cy="360"/>
          </a:xfrm>
          <a:prstGeom prst="line">
            <a:avLst/>
          </a:prstGeom>
          <a:ln w="19050">
            <a:solidFill>
              <a:srgbClr val="2A3F6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0085760" y="822960"/>
            <a:ext cx="475200" cy="475200"/>
          </a:xfrm>
          <a:prstGeom prst="ellipse">
            <a:avLst/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" name="Image 2" descr="icon_cogs_teal.png"/>
          <p:cNvPicPr/>
          <p:nvPr/>
        </p:nvPicPr>
        <p:blipFill>
          <a:blip r:embed="rId5"/>
          <a:stretch/>
        </p:blipFill>
        <p:spPr>
          <a:xfrm>
            <a:off x="10209600" y="94644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16" name="Shape 5"/>
          <p:cNvSpPr/>
          <p:nvPr/>
        </p:nvSpPr>
        <p:spPr>
          <a:xfrm>
            <a:off x="10561320" y="1060560"/>
            <a:ext cx="658080" cy="360"/>
          </a:xfrm>
          <a:prstGeom prst="line">
            <a:avLst/>
          </a:prstGeom>
          <a:ln w="19050">
            <a:solidFill>
              <a:srgbClr val="2A3F6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11219760" y="822960"/>
            <a:ext cx="475200" cy="475200"/>
          </a:xfrm>
          <a:prstGeom prst="ellipse">
            <a:avLst/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3" descr="icon_chart_teal.png"/>
          <p:cNvPicPr/>
          <p:nvPr/>
        </p:nvPicPr>
        <p:blipFill>
          <a:blip r:embed="rId6"/>
          <a:stretch/>
        </p:blipFill>
        <p:spPr>
          <a:xfrm>
            <a:off x="11343240" y="94644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19" name="Text 7"/>
          <p:cNvSpPr/>
          <p:nvPr/>
        </p:nvSpPr>
        <p:spPr>
          <a:xfrm>
            <a:off x="822960" y="19659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00B4D8"/>
                </a:solidFill>
                <a:latin typeface="Arial"/>
                <a:ea typeface="Arial"/>
              </a:rPr>
              <a:t>BÁO CÁO CHUYÊN ĐỀ TỐT NGHIỆP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822960" y="2377440"/>
            <a:ext cx="1024092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Xây dựng hệ thống CI/CD kết hợp kiểm thử tự động và giám sát ứng dụng Website quản lý công việc trên nền tảng AWS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822960" y="425196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FB2CE"/>
                </a:solidFill>
                <a:latin typeface="Arial"/>
                <a:ea typeface="Arial"/>
              </a:rPr>
              <a:t>Building a CI/CD Pipeline Integrated with Automated Testing and Monitoring for a Task Management System on AWS Cloud Platform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822960" y="5074920"/>
            <a:ext cx="2926080" cy="360"/>
          </a:xfrm>
          <a:prstGeom prst="line">
            <a:avLst/>
          </a:prstGeom>
          <a:ln w="19050">
            <a:solidFill>
              <a:srgbClr val="2A3F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822960" y="5698253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Sinh</a:t>
            </a:r>
            <a:r>
              <a:rPr lang="en-US" sz="150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US" sz="150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viên</a:t>
            </a:r>
            <a:r>
              <a:rPr lang="en-US" sz="150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US" sz="150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thực</a:t>
            </a:r>
            <a:r>
              <a:rPr lang="en-US" sz="150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US" sz="150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hiện</a:t>
            </a:r>
            <a:r>
              <a:rPr lang="en-US" sz="1500" strike="noStrike" spc="-1" dirty="0">
                <a:solidFill>
                  <a:srgbClr val="FFFFFF"/>
                </a:solidFill>
                <a:latin typeface="Arial"/>
                <a:ea typeface="Arial"/>
              </a:rPr>
              <a:t>:  </a:t>
            </a:r>
            <a:r>
              <a:rPr lang="en-US" sz="150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Nguyễn</a:t>
            </a:r>
            <a:r>
              <a:rPr lang="en-US" sz="150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US" sz="150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Đức</a:t>
            </a:r>
            <a:r>
              <a:rPr lang="en-US" sz="150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US" sz="150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Nhiên</a:t>
            </a:r>
            <a:r>
              <a:rPr lang="en-US" sz="1500" strike="noStrike" spc="-1" dirty="0">
                <a:solidFill>
                  <a:srgbClr val="FFFFFF"/>
                </a:solidFill>
                <a:latin typeface="Arial"/>
                <a:ea typeface="Arial"/>
              </a:rPr>
              <a:t>  —  25210160</a:t>
            </a:r>
            <a:endParaRPr lang="en-US" sz="150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822960" y="5325684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 dirty="0" err="1">
                <a:solidFill>
                  <a:schemeClr val="bg1"/>
                </a:solidFill>
                <a:latin typeface="Arial"/>
                <a:ea typeface="Arial"/>
              </a:rPr>
              <a:t>Giảng</a:t>
            </a: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Arial"/>
              </a:rPr>
              <a:t> </a:t>
            </a:r>
            <a:r>
              <a:rPr lang="en-US" sz="1500" b="1" strike="noStrike" spc="-1" dirty="0" err="1">
                <a:solidFill>
                  <a:schemeClr val="bg1"/>
                </a:solidFill>
                <a:latin typeface="Arial"/>
                <a:ea typeface="Arial"/>
              </a:rPr>
              <a:t>viên</a:t>
            </a: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Arial"/>
              </a:rPr>
              <a:t> </a:t>
            </a:r>
            <a:r>
              <a:rPr lang="en-US" sz="1500" b="1" strike="noStrike" spc="-1" dirty="0" err="1">
                <a:solidFill>
                  <a:schemeClr val="bg1"/>
                </a:solidFill>
                <a:latin typeface="Arial"/>
                <a:ea typeface="Arial"/>
              </a:rPr>
              <a:t>hướng</a:t>
            </a: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Arial"/>
              </a:rPr>
              <a:t> </a:t>
            </a:r>
            <a:r>
              <a:rPr lang="en-US" sz="1500" b="1" strike="noStrike" spc="-1" dirty="0" err="1">
                <a:solidFill>
                  <a:schemeClr val="bg1"/>
                </a:solidFill>
                <a:latin typeface="Arial"/>
                <a:ea typeface="Arial"/>
              </a:rPr>
              <a:t>dẫn</a:t>
            </a: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Arial"/>
              </a:rPr>
              <a:t>:  </a:t>
            </a:r>
            <a:r>
              <a:rPr lang="en-US" sz="1500" b="1" strike="noStrike" spc="-1" dirty="0" err="1">
                <a:solidFill>
                  <a:schemeClr val="bg1"/>
                </a:solidFill>
                <a:latin typeface="Arial"/>
                <a:ea typeface="Arial"/>
              </a:rPr>
              <a:t>ThS</a:t>
            </a: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Arial"/>
              </a:rPr>
              <a:t>. </a:t>
            </a:r>
            <a:r>
              <a:rPr lang="en-US" sz="1500" b="1" strike="noStrike" spc="-1" dirty="0" err="1">
                <a:solidFill>
                  <a:schemeClr val="bg1"/>
                </a:solidFill>
                <a:latin typeface="Arial"/>
                <a:ea typeface="Arial"/>
              </a:rPr>
              <a:t>Trần</a:t>
            </a: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Arial"/>
              </a:rPr>
              <a:t> Anh </a:t>
            </a:r>
            <a:r>
              <a:rPr lang="en-US" sz="1500" b="1" strike="noStrike" spc="-1" dirty="0" err="1">
                <a:solidFill>
                  <a:schemeClr val="bg1"/>
                </a:solidFill>
                <a:latin typeface="Arial"/>
                <a:ea typeface="Arial"/>
              </a:rPr>
              <a:t>Dũng</a:t>
            </a:r>
            <a:endParaRPr lang="en-US" sz="1500" b="1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822960" y="62636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C7FA0"/>
                </a:solidFill>
                <a:latin typeface="Arial"/>
                <a:ea typeface="Arial"/>
              </a:rPr>
              <a:t>Trường Đại học Công nghệ Thông tin — ĐHQG TP.HCM   •   2026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Image 0" descr="icon_target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28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ĐỘNG LỰC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1298520" y="777240"/>
            <a:ext cx="9143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1F3A"/>
                </a:solidFill>
                <a:latin typeface="Cambria"/>
                <a:ea typeface="Cambria"/>
              </a:rPr>
              <a:t>Vì sao chọn đề tài này?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640080" y="1874520"/>
            <a:ext cx="3428640" cy="35658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960120" y="224028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960120" y="224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B1F3A"/>
                </a:solidFill>
                <a:latin typeface="Arial"/>
                <a:ea typeface="Arial"/>
              </a:rPr>
              <a:t>1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960120" y="292608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1F3A"/>
                </a:solidFill>
                <a:latin typeface="Cambria"/>
                <a:ea typeface="Cambria"/>
              </a:rPr>
              <a:t>Xu hướng ngành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960120" y="3429000"/>
            <a:ext cx="278856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Phát triển phần mềm hiện đại đòi hỏi tự động hóa toàn bộ chu trình — từ kiểm thử, tích hợp, đến triển khai và giám sát — không chỉ dừng ở viết code.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4389120" y="1874520"/>
            <a:ext cx="3428640" cy="35658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4709160" y="224028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4709160" y="224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B1F3A"/>
                </a:solidFill>
                <a:latin typeface="Arial"/>
                <a:ea typeface="Arial"/>
              </a:rPr>
              <a:t>2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4709160" y="292608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1F3A"/>
                </a:solidFill>
                <a:latin typeface="Cambria"/>
                <a:ea typeface="Cambria"/>
              </a:rPr>
              <a:t>Xuất phát điểm cá nhân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4709160" y="3429000"/>
            <a:ext cx="278856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Nền tảng kiểm thử phần mềm thủ công (manual testing) là lợi thế, nhưng cần bổ sung kỹ năng Automated Testing và CI/CD để bắt kịp thực tế ngành.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8138160" y="1874520"/>
            <a:ext cx="3428640" cy="35658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8458200" y="224028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8458200" y="224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B1F3A"/>
                </a:solidFill>
                <a:latin typeface="Arial"/>
                <a:ea typeface="Arial"/>
              </a:rPr>
              <a:t>3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8458200" y="292608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1F3A"/>
                </a:solidFill>
                <a:latin typeface="Cambria"/>
                <a:ea typeface="Cambria"/>
              </a:rPr>
              <a:t>Vật thử nghiệm thực tế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8458200" y="3429000"/>
            <a:ext cx="278856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Xây dựng Website quản lý công việc (mô hình Kanban như Jira/Trello) làm đối tượng thật để kiểm chứng toàn bộ pipeline — không dừng ở lý thuyết.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640080" y="57150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5B7A9E"/>
                </a:solidFill>
                <a:latin typeface="Arial"/>
                <a:ea typeface="Arial"/>
              </a:rPr>
              <a:t>Trọng tâm đề tài đặt vào CI/CD, kiểm thử tự động và giám sát — Website chỉ đóng vai trò minh họa.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2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Image 0" descr="icon_checkcircle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50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MỤC TIÊU ĐỀ TÀI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1F3A"/>
                </a:solidFill>
                <a:latin typeface="Cambria"/>
                <a:ea typeface="Cambria"/>
              </a:rPr>
              <a:t>5 mục tiêu cụ thể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640080" y="1783080"/>
            <a:ext cx="1088100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868680" y="191124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Image 1" descr="icon_tasks_white.png"/>
          <p:cNvPicPr/>
          <p:nvPr/>
        </p:nvPicPr>
        <p:blipFill>
          <a:blip r:embed="rId4"/>
          <a:stretch/>
        </p:blipFill>
        <p:spPr>
          <a:xfrm>
            <a:off x="999360" y="204192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55" name="Text 5"/>
          <p:cNvSpPr/>
          <p:nvPr/>
        </p:nvSpPr>
        <p:spPr>
          <a:xfrm>
            <a:off x="1600200" y="183780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Website quản lý công việc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5029200" y="1837800"/>
            <a:ext cx="6309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Backend RESTful API + Frontend hoàn chỉnh, đầy đủ chức năng cốt lõi.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640080" y="2651760"/>
            <a:ext cx="1088100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868680" y="277992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" name="Image 2" descr="icon_vial_white.png"/>
          <p:cNvPicPr/>
          <p:nvPr/>
        </p:nvPicPr>
        <p:blipFill>
          <a:blip r:embed="rId5"/>
          <a:stretch/>
        </p:blipFill>
        <p:spPr>
          <a:xfrm>
            <a:off x="999360" y="2910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60" name="Text 9"/>
          <p:cNvSpPr/>
          <p:nvPr/>
        </p:nvSpPr>
        <p:spPr>
          <a:xfrm>
            <a:off x="1600200" y="270648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Bộ kiểm thử tự động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5029200" y="2706480"/>
            <a:ext cx="6309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Playwright bao phủ các luồng nghiệp vụ cốt lõi, tích hợp CI/CD.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640080" y="3520440"/>
            <a:ext cx="1088100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868680" y="364860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" name="Image 3" descr="icon_cogs_white.png"/>
          <p:cNvPicPr/>
          <p:nvPr/>
        </p:nvPicPr>
        <p:blipFill>
          <a:blip r:embed="rId6"/>
          <a:stretch/>
        </p:blipFill>
        <p:spPr>
          <a:xfrm>
            <a:off x="999360" y="377928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65" name="Text 13"/>
          <p:cNvSpPr/>
          <p:nvPr/>
        </p:nvSpPr>
        <p:spPr>
          <a:xfrm>
            <a:off x="1600200" y="35751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Pipeline CI/CD hoàn chỉnh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5029200" y="3575160"/>
            <a:ext cx="6309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Jenkins: build → test → report → đóng gói → triển khai tự động.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640080" y="4389120"/>
            <a:ext cx="1088100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868680" y="451728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Image 4" descr="icon_cloud_white.png"/>
          <p:cNvPicPr/>
          <p:nvPr/>
        </p:nvPicPr>
        <p:blipFill>
          <a:blip r:embed="rId7"/>
          <a:stretch/>
        </p:blipFill>
        <p:spPr>
          <a:xfrm>
            <a:off x="999360" y="464796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70" name="Text 17"/>
          <p:cNvSpPr/>
          <p:nvPr/>
        </p:nvSpPr>
        <p:spPr>
          <a:xfrm>
            <a:off x="1600200" y="444384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Triển khai trên AWS EC2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5029200" y="4443840"/>
            <a:ext cx="6309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Vận hành thực tế với HTTPS, ổn định trên tài nguyên Free Tier.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640080" y="5257800"/>
            <a:ext cx="1088100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20"/>
          <p:cNvSpPr/>
          <p:nvPr/>
        </p:nvSpPr>
        <p:spPr>
          <a:xfrm>
            <a:off x="868680" y="538596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Image 5" descr="icon_chart_white.png"/>
          <p:cNvPicPr/>
          <p:nvPr/>
        </p:nvPicPr>
        <p:blipFill>
          <a:blip r:embed="rId8"/>
          <a:stretch/>
        </p:blipFill>
        <p:spPr>
          <a:xfrm>
            <a:off x="999360" y="551664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75" name="Text 21"/>
          <p:cNvSpPr/>
          <p:nvPr/>
        </p:nvSpPr>
        <p:spPr>
          <a:xfrm>
            <a:off x="1600200" y="531252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Hệ thống giám sát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5029200" y="5312520"/>
            <a:ext cx="6309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Prometheus + Grafana theo dõi 3 tầng: hạ tầng, container, ứng dụng.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3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4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3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Image 0" descr="icon_sitemap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81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KIẾN TRÚC HỆ THỐNG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1F3A"/>
                </a:solidFill>
                <a:latin typeface="Cambria"/>
                <a:ea typeface="Cambria"/>
              </a:rPr>
              <a:t>Kiến trúc tổng thể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640080" y="182880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5B7A9E"/>
                </a:solidFill>
                <a:latin typeface="Arial"/>
                <a:ea typeface="Arial"/>
              </a:rPr>
              <a:t>Người dùng cuối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2377440" y="1828800"/>
            <a:ext cx="1416960" cy="822600"/>
          </a:xfrm>
          <a:prstGeom prst="roundRect">
            <a:avLst>
              <a:gd name="adj" fmla="val 6667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2450520" y="1920240"/>
            <a:ext cx="1270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B1F3A"/>
                </a:solidFill>
                <a:latin typeface="Arial"/>
                <a:ea typeface="Arial"/>
              </a:rPr>
              <a:t>Trình duyệt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2450520" y="2340720"/>
            <a:ext cx="1270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B1F3A"/>
                </a:solidFill>
                <a:latin typeface="Arial"/>
                <a:ea typeface="Arial"/>
              </a:rPr>
              <a:t>HTTPS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3867840" y="2084760"/>
            <a:ext cx="255600" cy="31068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4251960" y="1828800"/>
            <a:ext cx="1599840" cy="822600"/>
          </a:xfrm>
          <a:prstGeom prst="roundRect">
            <a:avLst>
              <a:gd name="adj" fmla="val 6667"/>
            </a:avLst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4325040" y="1920240"/>
            <a:ext cx="1453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Nginx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4325040" y="2340720"/>
            <a:ext cx="1453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Arial"/>
                <a:ea typeface="Arial"/>
              </a:rPr>
              <a:t>Reverse Proxy · SSL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5925240" y="2084760"/>
            <a:ext cx="255600" cy="31068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6309360" y="1828800"/>
            <a:ext cx="2102760" cy="822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6382440" y="1920240"/>
            <a:ext cx="1956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Frontend / Backend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6382440" y="2340720"/>
            <a:ext cx="195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Arial"/>
                <a:ea typeface="Arial"/>
              </a:rPr>
              <a:t>ReactJS · Express API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8485560" y="2084760"/>
            <a:ext cx="255600" cy="31068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6"/>
          <p:cNvSpPr/>
          <p:nvPr/>
        </p:nvSpPr>
        <p:spPr>
          <a:xfrm>
            <a:off x="8869680" y="1828800"/>
            <a:ext cx="1462680" cy="822600"/>
          </a:xfrm>
          <a:prstGeom prst="roundRect">
            <a:avLst>
              <a:gd name="adj" fmla="val 6667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8942760" y="1920240"/>
            <a:ext cx="1316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B1F3A"/>
                </a:solidFill>
                <a:latin typeface="Arial"/>
                <a:ea typeface="Arial"/>
              </a:rPr>
              <a:t>MySQL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8"/>
          <p:cNvSpPr/>
          <p:nvPr/>
        </p:nvSpPr>
        <p:spPr>
          <a:xfrm>
            <a:off x="8942760" y="234072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B1F3A"/>
                </a:solidFill>
                <a:latin typeface="Arial"/>
                <a:ea typeface="Arial"/>
              </a:rPr>
              <a:t>Database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9"/>
          <p:cNvSpPr/>
          <p:nvPr/>
        </p:nvSpPr>
        <p:spPr>
          <a:xfrm>
            <a:off x="640080" y="306324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5B7A9E"/>
                </a:solidFill>
                <a:latin typeface="Arial"/>
                <a:ea typeface="Arial"/>
              </a:rPr>
              <a:t>CI/CD (Jenkins)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0"/>
          <p:cNvSpPr/>
          <p:nvPr/>
        </p:nvSpPr>
        <p:spPr>
          <a:xfrm>
            <a:off x="2377440" y="3063240"/>
            <a:ext cx="1416960" cy="822600"/>
          </a:xfrm>
          <a:prstGeom prst="roundRect">
            <a:avLst>
              <a:gd name="adj" fmla="val 6667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1"/>
          <p:cNvSpPr/>
          <p:nvPr/>
        </p:nvSpPr>
        <p:spPr>
          <a:xfrm>
            <a:off x="2450520" y="3154680"/>
            <a:ext cx="1270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B1F3A"/>
                </a:solidFill>
                <a:latin typeface="Arial"/>
                <a:ea typeface="Arial"/>
              </a:rPr>
              <a:t>GitHub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2450520" y="3575160"/>
            <a:ext cx="1270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B1F3A"/>
                </a:solidFill>
                <a:latin typeface="Arial"/>
                <a:ea typeface="Arial"/>
              </a:rPr>
              <a:t>Source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3"/>
          <p:cNvSpPr/>
          <p:nvPr/>
        </p:nvSpPr>
        <p:spPr>
          <a:xfrm>
            <a:off x="3867840" y="3319200"/>
            <a:ext cx="255600" cy="31068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4"/>
          <p:cNvSpPr/>
          <p:nvPr/>
        </p:nvSpPr>
        <p:spPr>
          <a:xfrm>
            <a:off x="4251960" y="3063240"/>
            <a:ext cx="4160160" cy="822600"/>
          </a:xfrm>
          <a:prstGeom prst="roundRect">
            <a:avLst>
              <a:gd name="adj" fmla="val 6667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4325040" y="3154680"/>
            <a:ext cx="4014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Jenkins Pipeline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6"/>
          <p:cNvSpPr/>
          <p:nvPr/>
        </p:nvSpPr>
        <p:spPr>
          <a:xfrm>
            <a:off x="4325040" y="3575160"/>
            <a:ext cx="4014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Arial"/>
                <a:ea typeface="Arial"/>
              </a:rPr>
              <a:t>Build · Test · Report · Docker Image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7"/>
          <p:cNvSpPr/>
          <p:nvPr/>
        </p:nvSpPr>
        <p:spPr>
          <a:xfrm>
            <a:off x="8485560" y="3319200"/>
            <a:ext cx="255600" cy="31068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8"/>
          <p:cNvSpPr/>
          <p:nvPr/>
        </p:nvSpPr>
        <p:spPr>
          <a:xfrm>
            <a:off x="8869680" y="3063240"/>
            <a:ext cx="1462680" cy="822600"/>
          </a:xfrm>
          <a:prstGeom prst="roundRect">
            <a:avLst>
              <a:gd name="adj" fmla="val 6667"/>
            </a:avLst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9"/>
          <p:cNvSpPr/>
          <p:nvPr/>
        </p:nvSpPr>
        <p:spPr>
          <a:xfrm>
            <a:off x="8942760" y="3154680"/>
            <a:ext cx="1316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AWS EC2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0"/>
          <p:cNvSpPr/>
          <p:nvPr/>
        </p:nvSpPr>
        <p:spPr>
          <a:xfrm>
            <a:off x="8942760" y="357516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Arial"/>
                <a:ea typeface="Arial"/>
              </a:rPr>
              <a:t>Deploy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1"/>
          <p:cNvSpPr/>
          <p:nvPr/>
        </p:nvSpPr>
        <p:spPr>
          <a:xfrm>
            <a:off x="640080" y="429768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5B7A9E"/>
                </a:solidFill>
                <a:latin typeface="Arial"/>
                <a:ea typeface="Arial"/>
              </a:rPr>
              <a:t>Giám sát (từ xa)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32"/>
          <p:cNvSpPr/>
          <p:nvPr/>
        </p:nvSpPr>
        <p:spPr>
          <a:xfrm>
            <a:off x="2377440" y="4297680"/>
            <a:ext cx="2834280" cy="822600"/>
          </a:xfrm>
          <a:prstGeom prst="roundRect">
            <a:avLst>
              <a:gd name="adj" fmla="val 6667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3"/>
          <p:cNvSpPr/>
          <p:nvPr/>
        </p:nvSpPr>
        <p:spPr>
          <a:xfrm>
            <a:off x="2450520" y="4297680"/>
            <a:ext cx="26881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B1F3A"/>
                </a:solidFill>
                <a:latin typeface="Arial"/>
                <a:ea typeface="Arial"/>
              </a:rPr>
              <a:t>EC2: node_exporter,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B1F3A"/>
                </a:solidFill>
                <a:latin typeface="Arial"/>
                <a:ea typeface="Arial"/>
              </a:rPr>
              <a:t>cAdvisor, /metrics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4"/>
          <p:cNvSpPr/>
          <p:nvPr/>
        </p:nvSpPr>
        <p:spPr>
          <a:xfrm>
            <a:off x="5257800" y="4709160"/>
            <a:ext cx="1005840" cy="360"/>
          </a:xfrm>
          <a:prstGeom prst="line">
            <a:avLst/>
          </a:prstGeom>
          <a:ln w="22225">
            <a:solidFill>
              <a:srgbClr val="00B4D8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5"/>
          <p:cNvSpPr/>
          <p:nvPr/>
        </p:nvSpPr>
        <p:spPr>
          <a:xfrm>
            <a:off x="5257800" y="40417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B7A9E"/>
                </a:solidFill>
                <a:latin typeface="Arial"/>
                <a:ea typeface="Arial"/>
              </a:rPr>
              <a:t>scrape HTTPS · 15s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6"/>
          <p:cNvSpPr/>
          <p:nvPr/>
        </p:nvSpPr>
        <p:spPr>
          <a:xfrm>
            <a:off x="6309360" y="4297680"/>
            <a:ext cx="2742840" cy="822600"/>
          </a:xfrm>
          <a:prstGeom prst="roundRect">
            <a:avLst>
              <a:gd name="adj" fmla="val 6667"/>
            </a:avLst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37"/>
          <p:cNvSpPr/>
          <p:nvPr/>
        </p:nvSpPr>
        <p:spPr>
          <a:xfrm>
            <a:off x="6382440" y="4389120"/>
            <a:ext cx="259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Prometheus + Grafana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8"/>
          <p:cNvSpPr/>
          <p:nvPr/>
        </p:nvSpPr>
        <p:spPr>
          <a:xfrm>
            <a:off x="6382440" y="4809600"/>
            <a:ext cx="2596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Arial"/>
                <a:ea typeface="Arial"/>
              </a:rPr>
              <a:t>Chạy trên máy Local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39"/>
          <p:cNvSpPr/>
          <p:nvPr/>
        </p:nvSpPr>
        <p:spPr>
          <a:xfrm>
            <a:off x="640080" y="5440680"/>
            <a:ext cx="10908360" cy="776880"/>
          </a:xfrm>
          <a:prstGeom prst="roundRect">
            <a:avLst>
              <a:gd name="adj" fmla="val 9412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0"/>
          <p:cNvSpPr/>
          <p:nvPr/>
        </p:nvSpPr>
        <p:spPr>
          <a:xfrm>
            <a:off x="914400" y="5440680"/>
            <a:ext cx="10332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0B1F3A"/>
                </a:solidFill>
                <a:latin typeface="Arial"/>
                <a:ea typeface="Arial"/>
              </a:rPr>
              <a:t>Quyết định thiết kế: Prometheus/Grafana tách biệt khỏi EC2 — nếu ứng dụng gặp sự cố, hệ thống giám sát vẫn hoạt động độc lập để phát hiện và cảnh báo.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41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42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4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Image 0" descr="icon_tasks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125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ỨNG DỤNG THỬ NGHIỆM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1F3A"/>
                </a:solidFill>
                <a:latin typeface="Cambria"/>
                <a:ea typeface="Cambria"/>
              </a:rPr>
              <a:t>Website quản lý công việc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640080" y="1417320"/>
            <a:ext cx="7589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5B6B85"/>
                </a:solidFill>
                <a:latin typeface="Arial"/>
                <a:ea typeface="Arial"/>
              </a:rPr>
              <a:t>Mô hình Kanban (To Do → In Progress → Review → Done), 2 vai trò: Admin &amp; Member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640080" y="1965960"/>
            <a:ext cx="5257440" cy="41601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960120" y="21945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1F3A"/>
                </a:solidFill>
                <a:latin typeface="Cambria"/>
                <a:ea typeface="Cambria"/>
              </a:rPr>
              <a:t>BACKEND — 6 module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96012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1234440" y="2697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Authentication — đăng ký, đăng nhập, JWT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960120" y="324612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1234440" y="3246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Admin — quản lý người dùng, phân quyền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960120" y="379476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1234440" y="37947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Project — CRUD dự án, thành viên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960120" y="434340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1234440" y="4343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Task, Label, Comment — Kanban, bình luận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960120" y="489204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1234440" y="48920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Notifications — thông báo tự động (Trigger)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960120" y="54406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1234440" y="54406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Dashboard — thống kê (MySQL View)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8"/>
          <p:cNvSpPr/>
          <p:nvPr/>
        </p:nvSpPr>
        <p:spPr>
          <a:xfrm>
            <a:off x="6172200" y="1965960"/>
            <a:ext cx="5348880" cy="41601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6492240" y="21945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1F3A"/>
                </a:solidFill>
                <a:latin typeface="Cambria"/>
                <a:ea typeface="Cambria"/>
              </a:rPr>
              <a:t>FRONTEND — 7 trang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6492240" y="269748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6766560" y="26974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Login / Register / Profile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6492240" y="324612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6766560" y="324612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Project — danh sách &amp; chi tiết dự án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6492240" y="379476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5"/>
          <p:cNvSpPr/>
          <p:nvPr/>
        </p:nvSpPr>
        <p:spPr>
          <a:xfrm>
            <a:off x="6766560" y="379476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Task Kanban Board — 4 cột trạng thái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6"/>
          <p:cNvSpPr/>
          <p:nvPr/>
        </p:nvSpPr>
        <p:spPr>
          <a:xfrm>
            <a:off x="6492240" y="434340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7"/>
          <p:cNvSpPr/>
          <p:nvPr/>
        </p:nvSpPr>
        <p:spPr>
          <a:xfrm>
            <a:off x="6766560" y="43434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Dashboard — biểu đồ, thẻ số liệu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6492240" y="4892040"/>
            <a:ext cx="228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Arial"/>
                <a:ea typeface="Arial"/>
              </a:rPr>
              <a:t>•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9"/>
          <p:cNvSpPr/>
          <p:nvPr/>
        </p:nvSpPr>
        <p:spPr>
          <a:xfrm>
            <a:off x="6766560" y="48920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Admin Users — quản trị người dùng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30"/>
          <p:cNvSpPr/>
          <p:nvPr/>
        </p:nvSpPr>
        <p:spPr>
          <a:xfrm>
            <a:off x="6492240" y="544068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5B7A9E"/>
                </a:solidFill>
                <a:latin typeface="Arial"/>
                <a:ea typeface="Arial"/>
              </a:rPr>
              <a:t>Quyết định: đổi trạng thái Task bằng dropdown (không kéo-thả) — dễ tự động hoá kiểm thử hơn.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31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2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5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Image 0" descr="icon_rocket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159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SẢN PHẨM THỰC TẾ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0B1F3A"/>
                </a:solidFill>
                <a:latin typeface="Cambria"/>
                <a:ea typeface="Cambria"/>
              </a:rPr>
              <a:t>Giao diện đang vận hành trên AWS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640080" y="1691640"/>
            <a:ext cx="690336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960120" y="1920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Dashboard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Image 1" descr="img_dashboard.png"/>
          <p:cNvPicPr/>
          <p:nvPr/>
        </p:nvPicPr>
        <p:blipFill>
          <a:blip r:embed="rId4"/>
          <a:stretch/>
        </p:blipFill>
        <p:spPr>
          <a:xfrm>
            <a:off x="960120" y="2377440"/>
            <a:ext cx="6263280" cy="1388520"/>
          </a:xfrm>
          <a:prstGeom prst="rect">
            <a:avLst/>
          </a:prstGeom>
          <a:ln w="0">
            <a:noFill/>
          </a:ln>
        </p:spPr>
      </p:pic>
      <p:sp>
        <p:nvSpPr>
          <p:cNvPr id="164" name="Shape 5"/>
          <p:cNvSpPr/>
          <p:nvPr/>
        </p:nvSpPr>
        <p:spPr>
          <a:xfrm>
            <a:off x="960120" y="4434840"/>
            <a:ext cx="2011320" cy="1416960"/>
          </a:xfrm>
          <a:prstGeom prst="roundRect">
            <a:avLst>
              <a:gd name="adj" fmla="val 5161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960120" y="459936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0B1F3A"/>
                </a:solidFill>
                <a:latin typeface="Cambria"/>
                <a:ea typeface="Cambria"/>
              </a:rPr>
              <a:t>26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960120" y="53949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97">
                <a:solidFill>
                  <a:srgbClr val="5B7A9E"/>
                </a:solidFill>
                <a:latin typeface="Arial"/>
                <a:ea typeface="Arial"/>
              </a:rPr>
              <a:t>DỰ ÁN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3173040" y="4434840"/>
            <a:ext cx="2011320" cy="1416960"/>
          </a:xfrm>
          <a:prstGeom prst="roundRect">
            <a:avLst>
              <a:gd name="adj" fmla="val 5161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3173040" y="459936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0B1F3A"/>
                </a:solidFill>
                <a:latin typeface="Cambria"/>
                <a:ea typeface="Cambria"/>
              </a:rPr>
              <a:t>29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3173040" y="53949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97">
                <a:solidFill>
                  <a:srgbClr val="5B7A9E"/>
                </a:solidFill>
                <a:latin typeface="Arial"/>
                <a:ea typeface="Arial"/>
              </a:rPr>
              <a:t>CÔNG VIỆC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5385960" y="4434840"/>
            <a:ext cx="2011320" cy="1416960"/>
          </a:xfrm>
          <a:prstGeom prst="roundRect">
            <a:avLst>
              <a:gd name="adj" fmla="val 5161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5385960" y="459936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0B1F3A"/>
                </a:solidFill>
                <a:latin typeface="Cambria"/>
                <a:ea typeface="Cambria"/>
              </a:rPr>
              <a:t>5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5385960" y="53949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97">
                <a:solidFill>
                  <a:srgbClr val="5B7A9E"/>
                </a:solidFill>
                <a:latin typeface="Arial"/>
                <a:ea typeface="Arial"/>
              </a:rPr>
              <a:t>TRỄ HẠN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7726680" y="1691640"/>
            <a:ext cx="3821760" cy="4480200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8001000" y="192024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Đăng nhập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Image 2" descr="img_login.png"/>
          <p:cNvPicPr/>
          <p:nvPr/>
        </p:nvPicPr>
        <p:blipFill>
          <a:blip r:embed="rId5"/>
          <a:stretch/>
        </p:blipFill>
        <p:spPr>
          <a:xfrm>
            <a:off x="8540640" y="2377440"/>
            <a:ext cx="2285640" cy="3186720"/>
          </a:xfrm>
          <a:prstGeom prst="rect">
            <a:avLst/>
          </a:prstGeom>
          <a:ln w="0">
            <a:noFill/>
          </a:ln>
        </p:spPr>
      </p:pic>
      <p:sp>
        <p:nvSpPr>
          <p:cNvPr id="176" name="Shape 16"/>
          <p:cNvSpPr/>
          <p:nvPr/>
        </p:nvSpPr>
        <p:spPr>
          <a:xfrm>
            <a:off x="7726680" y="5806440"/>
            <a:ext cx="3821760" cy="36540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7"/>
          <p:cNvSpPr/>
          <p:nvPr/>
        </p:nvSpPr>
        <p:spPr>
          <a:xfrm>
            <a:off x="7726680" y="5806440"/>
            <a:ext cx="3821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52.76.105.50.sslip.io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6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5367600" y="1920240"/>
            <a:ext cx="1462680" cy="1462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1" name="Image 0" descr="icon_play_navy.png"/>
          <p:cNvPicPr/>
          <p:nvPr/>
        </p:nvPicPr>
        <p:blipFill>
          <a:blip r:embed="rId3"/>
          <a:stretch/>
        </p:blipFill>
        <p:spPr>
          <a:xfrm>
            <a:off x="5747760" y="2300760"/>
            <a:ext cx="702000" cy="702000"/>
          </a:xfrm>
          <a:prstGeom prst="rect">
            <a:avLst/>
          </a:prstGeom>
          <a:ln w="0">
            <a:noFill/>
          </a:ln>
        </p:spPr>
      </p:pic>
      <p:sp>
        <p:nvSpPr>
          <p:cNvPr id="182" name="Text 1"/>
          <p:cNvSpPr/>
          <p:nvPr/>
        </p:nvSpPr>
        <p:spPr>
          <a:xfrm>
            <a:off x="640080" y="3703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299">
                <a:solidFill>
                  <a:srgbClr val="00B4D8"/>
                </a:solidFill>
                <a:latin typeface="Arial"/>
                <a:ea typeface="Arial"/>
              </a:rPr>
              <a:t>DEMO TRỰC TIẾP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640080" y="41605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Website quản lý công việc trên AWS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640080" y="49377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9FB2CE"/>
                </a:solidFill>
                <a:latin typeface="Arial"/>
                <a:ea typeface="Arial"/>
              </a:rPr>
              <a:t>52.76.105.50.sslip.io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" name="Image 0" descr="icon_vial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187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AUTOMATED TESTING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0B1F3A"/>
                </a:solidFill>
                <a:latin typeface="Cambria"/>
                <a:ea typeface="Cambria"/>
              </a:rPr>
              <a:t>Kiểm thử tự động với Playwright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640080" y="1737360"/>
            <a:ext cx="4937400" cy="2742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914400" y="192024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1F3A"/>
                </a:solidFill>
                <a:latin typeface="Cambria"/>
                <a:ea typeface="Cambria"/>
              </a:rPr>
              <a:t>PHẠM VI KIỂM THỬ — 13 CA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914400" y="23774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6233B"/>
                </a:solidFill>
                <a:latin typeface="Arial"/>
                <a:ea typeface="Arial"/>
              </a:rPr>
              <a:t>Authentication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4206240" y="2404800"/>
            <a:ext cx="456840" cy="347040"/>
          </a:xfrm>
          <a:prstGeom prst="roundRect">
            <a:avLst>
              <a:gd name="adj" fmla="val 131579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4206240" y="240480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1F3A"/>
                </a:solidFill>
                <a:latin typeface="Arial"/>
                <a:ea typeface="Arial"/>
              </a:rPr>
              <a:t>4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914400" y="286200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6233B"/>
                </a:solidFill>
                <a:latin typeface="Arial"/>
                <a:ea typeface="Arial"/>
              </a:rPr>
              <a:t>Project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4206240" y="2889360"/>
            <a:ext cx="456840" cy="347040"/>
          </a:xfrm>
          <a:prstGeom prst="roundRect">
            <a:avLst>
              <a:gd name="adj" fmla="val 131579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4206240" y="288936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1F3A"/>
                </a:solidFill>
                <a:latin typeface="Arial"/>
                <a:ea typeface="Arial"/>
              </a:rPr>
              <a:t>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914400" y="334656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6233B"/>
                </a:solidFill>
                <a:latin typeface="Arial"/>
                <a:ea typeface="Arial"/>
              </a:rPr>
              <a:t>Task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4206240" y="3374280"/>
            <a:ext cx="456840" cy="347040"/>
          </a:xfrm>
          <a:prstGeom prst="roundRect">
            <a:avLst>
              <a:gd name="adj" fmla="val 131579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4206240" y="337428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1F3A"/>
                </a:solidFill>
                <a:latin typeface="Arial"/>
                <a:ea typeface="Arial"/>
              </a:rPr>
              <a:t>4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914400" y="383148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6233B"/>
                </a:solidFill>
                <a:latin typeface="Arial"/>
                <a:ea typeface="Arial"/>
              </a:rPr>
              <a:t>Search / Filter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4206240" y="3858840"/>
            <a:ext cx="456840" cy="347040"/>
          </a:xfrm>
          <a:prstGeom prst="roundRect">
            <a:avLst>
              <a:gd name="adj" fmla="val 131579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4206240" y="385884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1F3A"/>
                </a:solidFill>
                <a:latin typeface="Arial"/>
                <a:ea typeface="Arial"/>
              </a:rPr>
              <a:t>2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640080" y="4617720"/>
            <a:ext cx="4937400" cy="1599840"/>
          </a:xfrm>
          <a:prstGeom prst="roundRect">
            <a:avLst>
              <a:gd name="adj" fmla="val 4571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914400" y="480060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0B1F3A"/>
                </a:solidFill>
                <a:latin typeface="Arial"/>
                <a:ea typeface="Arial"/>
              </a:rPr>
              <a:t>Chỉ dùng Chromium — đơn giản hoá có chủ đích, đúng phạm vi cam kết.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914400" y="525780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0B1F3A"/>
                </a:solidFill>
                <a:latin typeface="Arial"/>
                <a:ea typeface="Arial"/>
              </a:rPr>
              <a:t>13/13 test — không dùng chung tài khoản test, mỗi ca tự đăng ký tài khoản riêng để tránh xung đột dữ liệu.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5806440" y="1737360"/>
            <a:ext cx="5742000" cy="4480200"/>
          </a:xfrm>
          <a:prstGeom prst="roundRect">
            <a:avLst>
              <a:gd name="adj" fmla="val 1633"/>
            </a:avLst>
          </a:prstGeom>
          <a:solidFill>
            <a:srgbClr val="142B4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6080760" y="192024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Báo cáo kết quả — 13/13 Passed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Image 1" descr="img_playwright.png"/>
          <p:cNvPicPr/>
          <p:nvPr/>
        </p:nvPicPr>
        <p:blipFill>
          <a:blip r:embed="rId4"/>
          <a:stretch/>
        </p:blipFill>
        <p:spPr>
          <a:xfrm>
            <a:off x="6903720" y="2331720"/>
            <a:ext cx="3565800" cy="3873600"/>
          </a:xfrm>
          <a:prstGeom prst="rect">
            <a:avLst/>
          </a:prstGeom>
          <a:ln w="0">
            <a:noFill/>
          </a:ln>
        </p:spPr>
      </p:pic>
      <p:sp>
        <p:nvSpPr>
          <p:cNvPr id="209" name="Shape 22"/>
          <p:cNvSpPr/>
          <p:nvPr/>
        </p:nvSpPr>
        <p:spPr>
          <a:xfrm>
            <a:off x="640080" y="6355080"/>
            <a:ext cx="10908360" cy="3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3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8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3" name="Image 0" descr="icon_bug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214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B3261E"/>
                </a:solidFill>
                <a:latin typeface="Arial"/>
                <a:ea typeface="Arial"/>
              </a:rPr>
              <a:t>SỰ CỐ THỰC TẾ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0B1F3A"/>
                </a:solidFill>
                <a:latin typeface="Cambria"/>
                <a:ea typeface="Cambria"/>
              </a:rPr>
              <a:t>Phát hiện lỗi Race Condition qua Stress Test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640080" y="1874520"/>
            <a:ext cx="3492720" cy="374868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914400" y="214884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914400" y="2148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914400" y="2834640"/>
            <a:ext cx="2944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1F3A"/>
                </a:solidFill>
                <a:latin typeface="Cambria"/>
                <a:ea typeface="Cambria"/>
              </a:rPr>
              <a:t>Chạy lặp lại 52 lần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914400" y="3337560"/>
            <a:ext cx="294408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Test "đổi trạng thái công việc" thỉnh thoảng fail ngay sau khi tải lại trang.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4151520" y="3593520"/>
            <a:ext cx="182520" cy="31068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4343400" y="1874520"/>
            <a:ext cx="3492720" cy="374868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4617720" y="214884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4617720" y="2148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4617720" y="2834640"/>
            <a:ext cx="2944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1F3A"/>
                </a:solidFill>
                <a:latin typeface="Cambria"/>
                <a:ea typeface="Cambria"/>
              </a:rPr>
              <a:t>Nguyên nhân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4617720" y="3337560"/>
            <a:ext cx="294408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Giao diện dùng "optimistic update" — cập nhật UI trước khi server xác nhận. Tải lại trang quá nhanh có thể hủy request đang bay giữa đường.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7854840" y="3593520"/>
            <a:ext cx="182520" cy="31068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8046720" y="1874520"/>
            <a:ext cx="3492720" cy="374868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8321040" y="214884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1E7D4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8321040" y="2148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8321040" y="2834640"/>
            <a:ext cx="2944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1F3A"/>
                </a:solidFill>
                <a:latin typeface="Cambria"/>
                <a:ea typeface="Cambria"/>
              </a:rPr>
              <a:t>Giải pháp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8321040" y="3337560"/>
            <a:ext cx="294408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Thêm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page.waitForResponse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() —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đợi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đúng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response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thành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công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thật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sự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rồi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mới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tải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lại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 </a:t>
            </a:r>
            <a:r>
              <a:rPr lang="en-US" sz="1250" b="0" strike="noStrike" spc="-1" dirty="0" err="1">
                <a:solidFill>
                  <a:srgbClr val="16233B"/>
                </a:solidFill>
                <a:latin typeface="Arial"/>
                <a:ea typeface="Arial"/>
              </a:rPr>
              <a:t>trang</a:t>
            </a:r>
            <a:r>
              <a:rPr lang="en-US" sz="1250" b="0" strike="noStrike" spc="-1" dirty="0">
                <a:solidFill>
                  <a:srgbClr val="16233B"/>
                </a:solidFill>
                <a:latin typeface="Arial"/>
                <a:ea typeface="Arial"/>
              </a:rPr>
              <a:t>.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640080" y="5806440"/>
            <a:ext cx="10908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5B7A9E"/>
                </a:solidFill>
                <a:latin typeface="Arial"/>
                <a:ea typeface="Arial"/>
              </a:rPr>
              <a:t>Kết quả: lỗi ở kịch bản test (chạy nhanh hơn network thật), không phải lỗi ứng dụng — 52/52 lần chạy sau đó đều pass.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9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Image 0" descr="icon_cogs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238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CI/CD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1F3A"/>
                </a:solidFill>
                <a:latin typeface="Cambria"/>
                <a:ea typeface="Cambria"/>
              </a:rPr>
              <a:t>Pipeline Jenkins hoàn chỉnh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"/>
          <p:cNvSpPr/>
          <p:nvPr/>
        </p:nvSpPr>
        <p:spPr>
          <a:xfrm>
            <a:off x="640080" y="1828800"/>
            <a:ext cx="1976400" cy="1051200"/>
          </a:xfrm>
          <a:prstGeom prst="roundRect">
            <a:avLst>
              <a:gd name="adj" fmla="val 6087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777240" y="192024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FA3C4"/>
                </a:solidFill>
                <a:latin typeface="Arial"/>
                <a:ea typeface="Arial"/>
              </a:rPr>
              <a:t>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749880" y="2176200"/>
            <a:ext cx="175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Build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6"/>
          <p:cNvSpPr/>
          <p:nvPr/>
        </p:nvSpPr>
        <p:spPr>
          <a:xfrm>
            <a:off x="2626200" y="2226600"/>
            <a:ext cx="237240" cy="25560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2873160" y="1828800"/>
            <a:ext cx="1976400" cy="1051200"/>
          </a:xfrm>
          <a:prstGeom prst="roundRect">
            <a:avLst>
              <a:gd name="adj" fmla="val 6087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8"/>
          <p:cNvSpPr/>
          <p:nvPr/>
        </p:nvSpPr>
        <p:spPr>
          <a:xfrm>
            <a:off x="3010320" y="192024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FA3C4"/>
                </a:solidFill>
                <a:latin typeface="Arial"/>
                <a:ea typeface="Arial"/>
              </a:rPr>
              <a:t>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2982600" y="2176200"/>
            <a:ext cx="175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Run Playwright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Tests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0"/>
          <p:cNvSpPr/>
          <p:nvPr/>
        </p:nvSpPr>
        <p:spPr>
          <a:xfrm>
            <a:off x="4859280" y="2226600"/>
            <a:ext cx="237240" cy="25560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1"/>
          <p:cNvSpPr/>
          <p:nvPr/>
        </p:nvSpPr>
        <p:spPr>
          <a:xfrm>
            <a:off x="5105880" y="1828800"/>
            <a:ext cx="1976400" cy="1051200"/>
          </a:xfrm>
          <a:prstGeom prst="roundRect">
            <a:avLst>
              <a:gd name="adj" fmla="val 6087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2"/>
          <p:cNvSpPr/>
          <p:nvPr/>
        </p:nvSpPr>
        <p:spPr>
          <a:xfrm>
            <a:off x="5243040" y="192024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FA3C4"/>
                </a:solidFill>
                <a:latin typeface="Arial"/>
                <a:ea typeface="Arial"/>
              </a:rPr>
              <a:t>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3"/>
          <p:cNvSpPr/>
          <p:nvPr/>
        </p:nvSpPr>
        <p:spPr>
          <a:xfrm>
            <a:off x="5215680" y="2176200"/>
            <a:ext cx="175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Generate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Test Report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4"/>
          <p:cNvSpPr/>
          <p:nvPr/>
        </p:nvSpPr>
        <p:spPr>
          <a:xfrm>
            <a:off x="7092000" y="2226600"/>
            <a:ext cx="237240" cy="25560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5"/>
          <p:cNvSpPr/>
          <p:nvPr/>
        </p:nvSpPr>
        <p:spPr>
          <a:xfrm>
            <a:off x="7338960" y="1828800"/>
            <a:ext cx="1976400" cy="1051200"/>
          </a:xfrm>
          <a:prstGeom prst="roundRect">
            <a:avLst>
              <a:gd name="adj" fmla="val 6087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6"/>
          <p:cNvSpPr/>
          <p:nvPr/>
        </p:nvSpPr>
        <p:spPr>
          <a:xfrm>
            <a:off x="7476120" y="192024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FA3C4"/>
                </a:solidFill>
                <a:latin typeface="Arial"/>
                <a:ea typeface="Arial"/>
              </a:rPr>
              <a:t>4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7"/>
          <p:cNvSpPr/>
          <p:nvPr/>
        </p:nvSpPr>
        <p:spPr>
          <a:xfrm>
            <a:off x="7448760" y="2176200"/>
            <a:ext cx="175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Build Docker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Image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8"/>
          <p:cNvSpPr/>
          <p:nvPr/>
        </p:nvSpPr>
        <p:spPr>
          <a:xfrm>
            <a:off x="9325080" y="2226600"/>
            <a:ext cx="237240" cy="255600"/>
          </a:xfrm>
          <a:prstGeom prst="chevron">
            <a:avLst>
              <a:gd name="adj" fmla="val 50000"/>
            </a:avLst>
          </a:prstGeom>
          <a:solidFill>
            <a:srgbClr val="C9D4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9"/>
          <p:cNvSpPr/>
          <p:nvPr/>
        </p:nvSpPr>
        <p:spPr>
          <a:xfrm>
            <a:off x="9572040" y="1828800"/>
            <a:ext cx="1976400" cy="1051200"/>
          </a:xfrm>
          <a:prstGeom prst="roundRect">
            <a:avLst>
              <a:gd name="adj" fmla="val 6087"/>
            </a:avLst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20"/>
          <p:cNvSpPr/>
          <p:nvPr/>
        </p:nvSpPr>
        <p:spPr>
          <a:xfrm>
            <a:off x="9709200" y="192024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FA3C4"/>
                </a:solidFill>
                <a:latin typeface="Arial"/>
                <a:ea typeface="Arial"/>
              </a:rPr>
              <a:t>5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21"/>
          <p:cNvSpPr/>
          <p:nvPr/>
        </p:nvSpPr>
        <p:spPr>
          <a:xfrm>
            <a:off x="9681840" y="2176200"/>
            <a:ext cx="175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Deploy to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Arial"/>
              </a:rPr>
              <a:t>AWS EC2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2"/>
          <p:cNvSpPr/>
          <p:nvPr/>
        </p:nvSpPr>
        <p:spPr>
          <a:xfrm>
            <a:off x="640080" y="3246120"/>
            <a:ext cx="521172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3"/>
          <p:cNvSpPr/>
          <p:nvPr/>
        </p:nvSpPr>
        <p:spPr>
          <a:xfrm>
            <a:off x="914400" y="34290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1F3A"/>
                </a:solidFill>
                <a:latin typeface="Cambria"/>
                <a:ea typeface="Cambria"/>
              </a:rPr>
              <a:t>QUYẾT ĐỊNH KỸ THUẬT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4"/>
          <p:cNvSpPr/>
          <p:nvPr/>
        </p:nvSpPr>
        <p:spPr>
          <a:xfrm>
            <a:off x="914400" y="38404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0B4D8"/>
                </a:solidFill>
                <a:latin typeface="Arial"/>
                <a:ea typeface="Arial"/>
              </a:rPr>
              <a:t>Docker-outside-of-Docker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25"/>
          <p:cNvSpPr/>
          <p:nvPr/>
        </p:nvSpPr>
        <p:spPr>
          <a:xfrm>
            <a:off x="914400" y="413316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Jenkins mượn Docker daemon của máy host qua docker.sock — không cần Docker lồng trong Docker.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6"/>
          <p:cNvSpPr/>
          <p:nvPr/>
        </p:nvSpPr>
        <p:spPr>
          <a:xfrm>
            <a:off x="914400" y="493776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0B4D8"/>
                </a:solidFill>
                <a:latin typeface="Arial"/>
                <a:ea typeface="Arial"/>
              </a:rPr>
              <a:t>host.docker.internal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7"/>
          <p:cNvSpPr/>
          <p:nvPr/>
        </p:nvSpPr>
        <p:spPr>
          <a:xfrm>
            <a:off x="914400" y="523044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Playwright trong container Jenkins gọi container Backend/Frontend qua địa chỉ đặc biệt này, không dùng localhost.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8"/>
          <p:cNvSpPr/>
          <p:nvPr/>
        </p:nvSpPr>
        <p:spPr>
          <a:xfrm>
            <a:off x="6126480" y="3246120"/>
            <a:ext cx="5421960" cy="2925720"/>
          </a:xfrm>
          <a:prstGeom prst="roundRect">
            <a:avLst>
              <a:gd name="adj" fmla="val 2500"/>
            </a:avLst>
          </a:prstGeom>
          <a:solidFill>
            <a:srgbClr val="142B4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9"/>
          <p:cNvSpPr/>
          <p:nvPr/>
        </p:nvSpPr>
        <p:spPr>
          <a:xfrm>
            <a:off x="6400800" y="342900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Lịch sử build — Jenkins Dashboard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Image 1" descr="img_jenkins.png"/>
          <p:cNvPicPr/>
          <p:nvPr/>
        </p:nvPicPr>
        <p:blipFill>
          <a:blip r:embed="rId4"/>
          <a:stretch/>
        </p:blipFill>
        <p:spPr>
          <a:xfrm>
            <a:off x="8106300" y="3713084"/>
            <a:ext cx="2194200" cy="2378160"/>
          </a:xfrm>
          <a:prstGeom prst="rect">
            <a:avLst/>
          </a:prstGeom>
          <a:ln w="0">
            <a:noFill/>
          </a:ln>
        </p:spPr>
      </p:pic>
      <p:sp>
        <p:nvSpPr>
          <p:cNvPr id="268" name="Text 30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10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1" name="Image 0" descr="icon_bug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272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B3261E"/>
                </a:solidFill>
                <a:latin typeface="Arial"/>
                <a:ea typeface="Arial"/>
              </a:rPr>
              <a:t>SỰ CỐ THỰC TẾ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0B1F3A"/>
                </a:solidFill>
                <a:latin typeface="Cambria"/>
                <a:ea typeface="Cambria"/>
              </a:rPr>
              <a:t>13/13 test "Flaky" trong Jenkins — vì sao?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640080" y="1828800"/>
            <a:ext cx="109083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914400" y="2011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B3261E"/>
                </a:solidFill>
                <a:latin typeface="Arial"/>
                <a:ea typeface="Arial"/>
              </a:rPr>
              <a:t>QUAN SÁT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914400" y="228600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16233B"/>
                </a:solidFill>
                <a:latin typeface="Arial"/>
                <a:ea typeface="Arial"/>
              </a:rPr>
              <a:t>Trên máy cá nhân: 13/13 pass thẳng. Trong Jenkins: CẢ 13/13 đều "Flaky" (fail lần 1, pass lần retry) — không có ngoại lệ.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6"/>
          <p:cNvSpPr/>
          <p:nvPr/>
        </p:nvSpPr>
        <p:spPr>
          <a:xfrm>
            <a:off x="640080" y="3429000"/>
            <a:ext cx="53488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914400" y="3611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7A9E"/>
                </a:solidFill>
                <a:latin typeface="Arial"/>
                <a:ea typeface="Arial"/>
              </a:rPr>
              <a:t>NGUYÊN NHÂN GỐC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914400" y="3931920"/>
            <a:ext cx="493740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Health check cũ chỉ kiểm tra Express đã "lắng nghe" (liveness) — KHÔNG kiểm tra MySQL đã sẵn sàng (readiness). Trong môi trường Jenkins "chật" tài nguyên, pool kết nối DB vẫn đang khởi tạo khi 13 test bắn request song song.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9"/>
          <p:cNvSpPr/>
          <p:nvPr/>
        </p:nvSpPr>
        <p:spPr>
          <a:xfrm>
            <a:off x="6199560" y="3429000"/>
            <a:ext cx="5348880" cy="2331360"/>
          </a:xfrm>
          <a:prstGeom prst="roundRect">
            <a:avLst>
              <a:gd name="adj" fmla="val 3137"/>
            </a:avLst>
          </a:prstGeom>
          <a:solidFill>
            <a:srgbClr val="1E7D46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6473880" y="3611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D7F0DE"/>
                </a:solidFill>
                <a:latin typeface="Arial"/>
                <a:ea typeface="Arial"/>
              </a:rPr>
              <a:t>GIẢI PHÁP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6473880" y="3931920"/>
            <a:ext cx="48002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FFFFFF"/>
                </a:solidFill>
                <a:latin typeface="Arial"/>
                <a:ea typeface="Arial"/>
              </a:rPr>
              <a:t>Đổi health check → gọi thử POST /api/auth/login với email giả. Request này BẮT BUỘC truy vấn MySQL thật. Nhận đúng 401 nghĩa là cả chuỗi Express → MySQL đã thực sự sẵn sàng.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640080" y="5943600"/>
            <a:ext cx="10908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strike="noStrike" spc="-1">
                <a:solidFill>
                  <a:srgbClr val="0B1F3A"/>
                </a:solidFill>
                <a:latin typeface="Arial"/>
                <a:ea typeface="Arial"/>
              </a:rPr>
              <a:t>Kết quả: build lại → 13/13 pass ngay lần đầu, 0 flaky.  •  Bài học: Liveness check ≠ Readiness check.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11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5367600" y="1920240"/>
            <a:ext cx="1462680" cy="1462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7" name="Image 0" descr="icon_play_navy.png"/>
          <p:cNvPicPr/>
          <p:nvPr/>
        </p:nvPicPr>
        <p:blipFill>
          <a:blip r:embed="rId3"/>
          <a:stretch/>
        </p:blipFill>
        <p:spPr>
          <a:xfrm>
            <a:off x="5747760" y="2300760"/>
            <a:ext cx="702000" cy="702000"/>
          </a:xfrm>
          <a:prstGeom prst="rect">
            <a:avLst/>
          </a:prstGeom>
          <a:ln w="0">
            <a:noFill/>
          </a:ln>
        </p:spPr>
      </p:pic>
      <p:sp>
        <p:nvSpPr>
          <p:cNvPr id="288" name="Text 1"/>
          <p:cNvSpPr/>
          <p:nvPr/>
        </p:nvSpPr>
        <p:spPr>
          <a:xfrm>
            <a:off x="640080" y="3703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299">
                <a:solidFill>
                  <a:srgbClr val="00B4D8"/>
                </a:solidFill>
                <a:latin typeface="Arial"/>
                <a:ea typeface="Arial"/>
              </a:rPr>
              <a:t>DEMO TRỰC TIẾP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640080" y="41605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Cambria"/>
                <a:ea typeface="Cambria"/>
              </a:rPr>
              <a:t>Chạy Pipeline Jenkins: Build → Test → Deploy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640080" y="49377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9FB2CE"/>
                </a:solidFill>
                <a:latin typeface="Arial"/>
                <a:ea typeface="Arial"/>
              </a:rPr>
              <a:t>localhost:8080/job/taskflow-pipeline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2" name="Image 0" descr="icon_cloud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293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TRIỂN KHAI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1F3A"/>
                </a:solidFill>
                <a:latin typeface="Cambria"/>
                <a:ea typeface="Cambria"/>
              </a:rPr>
              <a:t>Triển khai trên AWS EC2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640080" y="1737360"/>
            <a:ext cx="630900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4"/>
          <p:cNvSpPr/>
          <p:nvPr/>
        </p:nvSpPr>
        <p:spPr>
          <a:xfrm>
            <a:off x="914400" y="1920240"/>
            <a:ext cx="5760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1F3A"/>
                </a:solidFill>
                <a:latin typeface="Cambria"/>
                <a:ea typeface="Cambria"/>
              </a:rPr>
              <a:t>MÔ HÌNH: BUILD ONCE, DEPLOY EVERYWHERE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5"/>
          <p:cNvSpPr/>
          <p:nvPr/>
        </p:nvSpPr>
        <p:spPr>
          <a:xfrm>
            <a:off x="914400" y="2423160"/>
            <a:ext cx="456840" cy="4568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8" name="Image 1" descr="icon_server_white.png"/>
          <p:cNvPicPr/>
          <p:nvPr/>
        </p:nvPicPr>
        <p:blipFill>
          <a:blip r:embed="rId4"/>
          <a:stretch/>
        </p:blipFill>
        <p:spPr>
          <a:xfrm>
            <a:off x="1033200" y="25419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299" name="Text 6"/>
          <p:cNvSpPr/>
          <p:nvPr/>
        </p:nvSpPr>
        <p:spPr>
          <a:xfrm>
            <a:off x="1554480" y="239580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1F3A"/>
                </a:solidFill>
                <a:latin typeface="Arial"/>
                <a:ea typeface="Arial"/>
              </a:rPr>
              <a:t>Jenkins build Docker image (1 lần)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1554480" y="2697480"/>
            <a:ext cx="5211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Không build trực tiếp trên EC2 — tránh tốn RAM/CPU đột biến.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8"/>
          <p:cNvSpPr/>
          <p:nvPr/>
        </p:nvSpPr>
        <p:spPr>
          <a:xfrm>
            <a:off x="914400" y="3337560"/>
            <a:ext cx="456840" cy="4568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2" name="Image 2" descr="icon_codebranch_white.png"/>
          <p:cNvPicPr/>
          <p:nvPr/>
        </p:nvPicPr>
        <p:blipFill>
          <a:blip r:embed="rId5"/>
          <a:stretch/>
        </p:blipFill>
        <p:spPr>
          <a:xfrm>
            <a:off x="1033200" y="34563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03" name="Text 9"/>
          <p:cNvSpPr/>
          <p:nvPr/>
        </p:nvSpPr>
        <p:spPr>
          <a:xfrm>
            <a:off x="1554480" y="331020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1F3A"/>
                </a:solidFill>
                <a:latin typeface="Arial"/>
                <a:ea typeface="Arial"/>
              </a:rPr>
              <a:t>docker save + scp → gửi image lên EC2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1554480" y="3611880"/>
            <a:ext cx="5211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Nén và truyền image đã build sẵn qua kết nối SSH.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914400" y="4251960"/>
            <a:ext cx="456840" cy="4568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6" name="Image 3" descr="icon_checkcircle_white.png"/>
          <p:cNvPicPr/>
          <p:nvPr/>
        </p:nvPicPr>
        <p:blipFill>
          <a:blip r:embed="rId6"/>
          <a:stretch/>
        </p:blipFill>
        <p:spPr>
          <a:xfrm>
            <a:off x="1033200" y="43707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07" name="Text 12"/>
          <p:cNvSpPr/>
          <p:nvPr/>
        </p:nvSpPr>
        <p:spPr>
          <a:xfrm>
            <a:off x="1554480" y="422460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1F3A"/>
                </a:solidFill>
                <a:latin typeface="Arial"/>
                <a:ea typeface="Arial"/>
              </a:rPr>
              <a:t>EC2: docker load + compose up -d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1554480" y="4526280"/>
            <a:ext cx="5211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Chỉ giải nén và khởi động — không cần build gì thêm.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4"/>
          <p:cNvSpPr/>
          <p:nvPr/>
        </p:nvSpPr>
        <p:spPr>
          <a:xfrm>
            <a:off x="914400" y="5166360"/>
            <a:ext cx="456840" cy="4568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0" name="Image 4" descr="icon_lock_white.png"/>
          <p:cNvPicPr/>
          <p:nvPr/>
        </p:nvPicPr>
        <p:blipFill>
          <a:blip r:embed="rId7"/>
          <a:stretch/>
        </p:blipFill>
        <p:spPr>
          <a:xfrm>
            <a:off x="1033200" y="52851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11" name="Text 15"/>
          <p:cNvSpPr/>
          <p:nvPr/>
        </p:nvSpPr>
        <p:spPr>
          <a:xfrm>
            <a:off x="1554480" y="513900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B1F3A"/>
                </a:solidFill>
                <a:latin typeface="Arial"/>
                <a:ea typeface="Arial"/>
              </a:rPr>
              <a:t>Nginx + Certbot → HTTPS (sslip.io)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6"/>
          <p:cNvSpPr/>
          <p:nvPr/>
        </p:nvSpPr>
        <p:spPr>
          <a:xfrm>
            <a:off x="1554480" y="5440680"/>
            <a:ext cx="5211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Let's Encrypt không cấp SSL cho IP trần — dùng DNS miễn phí sslip.io.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7"/>
          <p:cNvSpPr/>
          <p:nvPr/>
        </p:nvSpPr>
        <p:spPr>
          <a:xfrm>
            <a:off x="7223760" y="1737360"/>
            <a:ext cx="4324680" cy="4480200"/>
          </a:xfrm>
          <a:prstGeom prst="roundRect">
            <a:avLst>
              <a:gd name="adj" fmla="val 1691"/>
            </a:avLst>
          </a:prstGeom>
          <a:solidFill>
            <a:srgbClr val="142B4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8"/>
          <p:cNvSpPr/>
          <p:nvPr/>
        </p:nvSpPr>
        <p:spPr>
          <a:xfrm>
            <a:off x="7498080" y="19202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Website đang chạy — HTTPS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Image 5" descr="img_aws_https.png"/>
          <p:cNvPicPr/>
          <p:nvPr/>
        </p:nvPicPr>
        <p:blipFill>
          <a:blip r:embed="rId8"/>
          <a:stretch/>
        </p:blipFill>
        <p:spPr>
          <a:xfrm>
            <a:off x="7498080" y="2331720"/>
            <a:ext cx="3794400" cy="1205280"/>
          </a:xfrm>
          <a:prstGeom prst="rect">
            <a:avLst/>
          </a:prstGeom>
          <a:ln w="0">
            <a:noFill/>
          </a:ln>
        </p:spPr>
      </p:pic>
      <p:sp>
        <p:nvSpPr>
          <p:cNvPr id="316" name="Shape 19"/>
          <p:cNvSpPr/>
          <p:nvPr/>
        </p:nvSpPr>
        <p:spPr>
          <a:xfrm>
            <a:off x="7498080" y="4709160"/>
            <a:ext cx="3794400" cy="1279800"/>
          </a:xfrm>
          <a:prstGeom prst="roundRect">
            <a:avLst>
              <a:gd name="adj" fmla="val 5714"/>
            </a:avLst>
          </a:prstGeom>
          <a:solidFill>
            <a:srgbClr val="1B3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7680960" y="48646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B4D8"/>
                </a:solidFill>
                <a:latin typeface="Arial"/>
                <a:ea typeface="Arial"/>
              </a:rPr>
              <a:t>911MB RAM · Free Tier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1"/>
          <p:cNvSpPr/>
          <p:nvPr/>
        </p:nvSpPr>
        <p:spPr>
          <a:xfrm>
            <a:off x="7680960" y="516636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7D4E8"/>
                </a:solidFill>
                <a:latin typeface="Arial"/>
                <a:ea typeface="Arial"/>
              </a:rPr>
              <a:t>Cần 2GB swap + tách build khỏi server để tránh hết bộ nhớ.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22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23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13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2" name="Image 0" descr="icon_bug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323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B3261E"/>
                </a:solidFill>
                <a:latin typeface="Arial"/>
                <a:ea typeface="Arial"/>
              </a:rPr>
              <a:t>SỰ CỐ THỰC TẾ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0B1F3A"/>
                </a:solidFill>
                <a:latin typeface="Cambria"/>
                <a:ea typeface="Cambria"/>
              </a:rPr>
              <a:t>MySQL bị "giết chết" khi build trên Production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3"/>
          <p:cNvSpPr/>
          <p:nvPr/>
        </p:nvSpPr>
        <p:spPr>
          <a:xfrm>
            <a:off x="640080" y="1828800"/>
            <a:ext cx="109083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4"/>
          <p:cNvSpPr/>
          <p:nvPr/>
        </p:nvSpPr>
        <p:spPr>
          <a:xfrm>
            <a:off x="914400" y="2057400"/>
            <a:ext cx="548280" cy="548280"/>
          </a:xfrm>
          <a:prstGeom prst="ellipse">
            <a:avLst/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7" name="Image 1" descr="icon_memory_white.png"/>
          <p:cNvPicPr/>
          <p:nvPr/>
        </p:nvPicPr>
        <p:blipFill>
          <a:blip r:embed="rId4"/>
          <a:stretch/>
        </p:blipFill>
        <p:spPr>
          <a:xfrm>
            <a:off x="1056960" y="219996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328" name="Text 5"/>
          <p:cNvSpPr/>
          <p:nvPr/>
        </p:nvSpPr>
        <p:spPr>
          <a:xfrm>
            <a:off x="1691640" y="1965960"/>
            <a:ext cx="96008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16233B"/>
                </a:solidFill>
                <a:latin typeface="Arial"/>
                <a:ea typeface="Arial"/>
              </a:rPr>
              <a:t>Build Frontend đồng thời với MySQL + Backend + Frontend cũ + Nginx đang chạy → vượt quá 911MB RAM → kernel OOM-killer chấm dứt tiến trình MySQL.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6"/>
          <p:cNvSpPr/>
          <p:nvPr/>
        </p:nvSpPr>
        <p:spPr>
          <a:xfrm>
            <a:off x="640080" y="3246120"/>
            <a:ext cx="10908360" cy="1005480"/>
          </a:xfrm>
          <a:prstGeom prst="roundRect">
            <a:avLst>
              <a:gd name="adj" fmla="val 7273"/>
            </a:avLst>
          </a:prstGeom>
          <a:solidFill>
            <a:srgbClr val="142B4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914400" y="3246120"/>
            <a:ext cx="103323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6FE3A8"/>
                </a:solidFill>
                <a:latin typeface="Consolas"/>
                <a:ea typeface="Consolas"/>
              </a:rPr>
              <a:t>kernel: Out of memory: Killed process ... task=mysqld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8"/>
          <p:cNvSpPr/>
          <p:nvPr/>
        </p:nvSpPr>
        <p:spPr>
          <a:xfrm>
            <a:off x="640080" y="4480560"/>
            <a:ext cx="5211720" cy="1737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914400" y="46634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7A9E"/>
                </a:solidFill>
                <a:latin typeface="Arial"/>
                <a:ea typeface="Arial"/>
              </a:rPr>
              <a:t>GIẢI PHÁP NGẮN HẠN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0"/>
          <p:cNvSpPr/>
          <p:nvPr/>
        </p:nvSpPr>
        <p:spPr>
          <a:xfrm>
            <a:off x="914400" y="498348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Thêm 2GB swap file (bộ nhớ ảo dự phòng), cấu hình bền qua /etc/fstab.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1"/>
          <p:cNvSpPr/>
          <p:nvPr/>
        </p:nvSpPr>
        <p:spPr>
          <a:xfrm>
            <a:off x="6336720" y="4480560"/>
            <a:ext cx="5211720" cy="1737000"/>
          </a:xfrm>
          <a:prstGeom prst="roundRect">
            <a:avLst>
              <a:gd name="adj" fmla="val 4211"/>
            </a:avLst>
          </a:prstGeom>
          <a:solidFill>
            <a:srgbClr val="1E7D46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12"/>
          <p:cNvSpPr/>
          <p:nvPr/>
        </p:nvSpPr>
        <p:spPr>
          <a:xfrm>
            <a:off x="6611040" y="46634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D7F0DE"/>
                </a:solidFill>
                <a:latin typeface="Arial"/>
                <a:ea typeface="Arial"/>
              </a:rPr>
              <a:t>GIẢI PHÁP TRIỆT ĐỂ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6611040" y="498348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FFFFFF"/>
                </a:solidFill>
                <a:latin typeface="Arial"/>
                <a:ea typeface="Arial"/>
              </a:rPr>
              <a:t>Tái thiết kế: "Build once, deploy everywhere" — EC2 không bao giờ build nữa.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14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0" name="Image 0" descr="icon_chart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341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GIÁM SÁT HỆ THỐNG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1F3A"/>
                </a:solidFill>
                <a:latin typeface="Cambria"/>
                <a:ea typeface="Cambria"/>
              </a:rPr>
              <a:t>Prometheus + Grafana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640080" y="1737360"/>
            <a:ext cx="493740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4"/>
          <p:cNvSpPr/>
          <p:nvPr/>
        </p:nvSpPr>
        <p:spPr>
          <a:xfrm>
            <a:off x="914400" y="192024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1F3A"/>
                </a:solidFill>
                <a:latin typeface="Cambria"/>
                <a:ea typeface="Cambria"/>
              </a:rPr>
              <a:t>KIẾN TRÚC TÁCH BIỆT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914400" y="23317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7A9E"/>
                </a:solidFill>
                <a:latin typeface="Arial"/>
                <a:ea typeface="Arial"/>
              </a:rPr>
              <a:t>EC2 (nhẹ)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914400" y="260604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16233B"/>
                </a:solidFill>
                <a:latin typeface="Arial"/>
                <a:ea typeface="Arial"/>
              </a:rPr>
              <a:t>node_exporter (~15MB) + cAdvisor (~17MB) — chỉ lộ số liệu, không xử lý gì nặng.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914400" y="32461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7A9E"/>
                </a:solidFill>
                <a:latin typeface="Arial"/>
                <a:ea typeface="Arial"/>
              </a:rPr>
              <a:t>Máy Local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8"/>
          <p:cNvSpPr/>
          <p:nvPr/>
        </p:nvSpPr>
        <p:spPr>
          <a:xfrm>
            <a:off x="914400" y="352044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16233B"/>
                </a:solidFill>
                <a:latin typeface="Arial"/>
                <a:ea typeface="Arial"/>
              </a:rPr>
              <a:t>Prometheus + Grafana chạy tại đây, thu thập (scrape) từ xa qua HTTPS mỗi 15 giây.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9"/>
          <p:cNvSpPr/>
          <p:nvPr/>
        </p:nvSpPr>
        <p:spPr>
          <a:xfrm>
            <a:off x="914400" y="4206240"/>
            <a:ext cx="4480200" cy="1828440"/>
          </a:xfrm>
          <a:prstGeom prst="roundRect">
            <a:avLst>
              <a:gd name="adj" fmla="val 4000"/>
            </a:avLst>
          </a:prstGeom>
          <a:solidFill>
            <a:srgbClr val="E7EE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0"/>
          <p:cNvSpPr/>
          <p:nvPr/>
        </p:nvSpPr>
        <p:spPr>
          <a:xfrm>
            <a:off x="1143000" y="437076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B1F3A"/>
                </a:solidFill>
                <a:latin typeface="Arial"/>
                <a:ea typeface="Arial"/>
              </a:rPr>
              <a:t>Vì sao tách biệt?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1143000" y="4663440"/>
            <a:ext cx="4023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0B1F3A"/>
                </a:solidFill>
                <a:latin typeface="Arial"/>
                <a:ea typeface="Arial"/>
              </a:rPr>
              <a:t>Nếu app gặp sự cố (như từng bị OOM), hệ giám sát đặt riêng vẫn sống để phát hiện &amp; cảnh báo — không sập theo.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5806440" y="1737360"/>
            <a:ext cx="5742000" cy="4480200"/>
          </a:xfrm>
          <a:prstGeom prst="roundRect">
            <a:avLst>
              <a:gd name="adj" fmla="val 1633"/>
            </a:avLst>
          </a:prstGeom>
          <a:solidFill>
            <a:srgbClr val="142B4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13"/>
          <p:cNvSpPr/>
          <p:nvPr/>
        </p:nvSpPr>
        <p:spPr>
          <a:xfrm>
            <a:off x="6080760" y="192024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Dashboard: Infrastructure (thật, từ EC2)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4" name="Image 1" descr="img_grafana_infra.png"/>
          <p:cNvPicPr/>
          <p:nvPr/>
        </p:nvPicPr>
        <p:blipFill>
          <a:blip r:embed="rId4"/>
          <a:stretch/>
        </p:blipFill>
        <p:spPr>
          <a:xfrm>
            <a:off x="6080760" y="2331720"/>
            <a:ext cx="5211720" cy="1627560"/>
          </a:xfrm>
          <a:prstGeom prst="rect">
            <a:avLst/>
          </a:prstGeom>
          <a:ln w="0">
            <a:noFill/>
          </a:ln>
        </p:spPr>
      </p:pic>
      <p:sp>
        <p:nvSpPr>
          <p:cNvPr id="355" name="Shape 14"/>
          <p:cNvSpPr/>
          <p:nvPr/>
        </p:nvSpPr>
        <p:spPr>
          <a:xfrm>
            <a:off x="6080760" y="4279320"/>
            <a:ext cx="1691280" cy="822600"/>
          </a:xfrm>
          <a:prstGeom prst="roundRect">
            <a:avLst>
              <a:gd name="adj" fmla="val 8889"/>
            </a:avLst>
          </a:prstGeom>
          <a:solidFill>
            <a:srgbClr val="1B3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6080760" y="4279320"/>
            <a:ext cx="16912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0B4D8"/>
                </a:solidFill>
                <a:latin typeface="Arial"/>
                <a:ea typeface="Arial"/>
              </a:rPr>
              <a:t>Hạ tầng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6"/>
          <p:cNvSpPr/>
          <p:nvPr/>
        </p:nvSpPr>
        <p:spPr>
          <a:xfrm>
            <a:off x="7891200" y="4279320"/>
            <a:ext cx="1691280" cy="822600"/>
          </a:xfrm>
          <a:prstGeom prst="roundRect">
            <a:avLst>
              <a:gd name="adj" fmla="val 8889"/>
            </a:avLst>
          </a:prstGeom>
          <a:solidFill>
            <a:srgbClr val="1B3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7891200" y="4279320"/>
            <a:ext cx="16912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0B4D8"/>
                </a:solidFill>
                <a:latin typeface="Arial"/>
                <a:ea typeface="Arial"/>
              </a:rPr>
              <a:t>Container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8"/>
          <p:cNvSpPr/>
          <p:nvPr/>
        </p:nvSpPr>
        <p:spPr>
          <a:xfrm>
            <a:off x="9701640" y="4279320"/>
            <a:ext cx="1691280" cy="822600"/>
          </a:xfrm>
          <a:prstGeom prst="roundRect">
            <a:avLst>
              <a:gd name="adj" fmla="val 8889"/>
            </a:avLst>
          </a:prstGeom>
          <a:solidFill>
            <a:srgbClr val="1B3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19"/>
          <p:cNvSpPr/>
          <p:nvPr/>
        </p:nvSpPr>
        <p:spPr>
          <a:xfrm>
            <a:off x="9701640" y="4279320"/>
            <a:ext cx="16912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0B4D8"/>
                </a:solidFill>
                <a:latin typeface="Arial"/>
                <a:ea typeface="Arial"/>
              </a:rPr>
              <a:t>Ứng dụng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20"/>
          <p:cNvSpPr/>
          <p:nvPr/>
        </p:nvSpPr>
        <p:spPr>
          <a:xfrm>
            <a:off x="6080760" y="5285160"/>
            <a:ext cx="5211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9FB2CE"/>
                </a:solidFill>
                <a:latin typeface="Arial"/>
                <a:ea typeface="Arial"/>
              </a:rPr>
              <a:t>3 tầng chỉ số — dữ liệu thật thu thập từ máy chủ AWS đang chạy.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21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22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15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5367600" y="1920240"/>
            <a:ext cx="1462680" cy="1462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5" name="Image 0" descr="icon_play_navy.png"/>
          <p:cNvPicPr/>
          <p:nvPr/>
        </p:nvPicPr>
        <p:blipFill>
          <a:blip r:embed="rId3"/>
          <a:stretch/>
        </p:blipFill>
        <p:spPr>
          <a:xfrm>
            <a:off x="5747760" y="2300760"/>
            <a:ext cx="702000" cy="702000"/>
          </a:xfrm>
          <a:prstGeom prst="rect">
            <a:avLst/>
          </a:prstGeom>
          <a:ln w="0">
            <a:noFill/>
          </a:ln>
        </p:spPr>
      </p:pic>
      <p:sp>
        <p:nvSpPr>
          <p:cNvPr id="366" name="Text 1"/>
          <p:cNvSpPr/>
          <p:nvPr/>
        </p:nvSpPr>
        <p:spPr>
          <a:xfrm>
            <a:off x="640080" y="3703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299">
                <a:solidFill>
                  <a:srgbClr val="00B4D8"/>
                </a:solidFill>
                <a:latin typeface="Arial"/>
                <a:ea typeface="Arial"/>
              </a:rPr>
              <a:t>DEMO TRỰC TIẾP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2"/>
          <p:cNvSpPr/>
          <p:nvPr/>
        </p:nvSpPr>
        <p:spPr>
          <a:xfrm>
            <a:off x="640080" y="41605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Cambria"/>
                <a:ea typeface="Cambria"/>
              </a:rPr>
              <a:t>Giám sát thời gian thực — Grafana Dashboard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3"/>
          <p:cNvSpPr/>
          <p:nvPr/>
        </p:nvSpPr>
        <p:spPr>
          <a:xfrm>
            <a:off x="640080" y="49377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9FB2CE"/>
                </a:solidFill>
                <a:latin typeface="Arial"/>
                <a:ea typeface="Arial"/>
              </a:rPr>
              <a:t>localhost:3001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2"/>
          <p:cNvSpPr/>
          <p:nvPr/>
        </p:nvSpPr>
        <p:spPr>
          <a:xfrm>
            <a:off x="1027893" y="769631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pc="-1" dirty="0">
                <a:solidFill>
                  <a:srgbClr val="0B1F3A"/>
                </a:solidFill>
                <a:latin typeface="Cambria"/>
                <a:ea typeface="Cambria"/>
              </a:rPr>
              <a:t>3</a:t>
            </a:r>
            <a:r>
              <a:rPr lang="en-US" sz="2600" b="1" strike="noStrike" spc="-1" dirty="0">
                <a:solidFill>
                  <a:srgbClr val="0B1F3A"/>
                </a:solidFill>
                <a:latin typeface="Cambria"/>
                <a:ea typeface="Cambria"/>
              </a:rPr>
              <a:t> </a:t>
            </a:r>
            <a:r>
              <a:rPr lang="en-US" sz="2600" b="1" strike="noStrike" spc="-1" dirty="0" err="1">
                <a:solidFill>
                  <a:srgbClr val="0B1F3A"/>
                </a:solidFill>
                <a:latin typeface="Cambria"/>
                <a:ea typeface="Cambria"/>
              </a:rPr>
              <a:t>sự</a:t>
            </a:r>
            <a:r>
              <a:rPr lang="en-US" sz="2600" b="1" strike="noStrike" spc="-1" dirty="0">
                <a:solidFill>
                  <a:srgbClr val="0B1F3A"/>
                </a:solidFill>
                <a:latin typeface="Cambria"/>
                <a:ea typeface="Cambria"/>
              </a:rPr>
              <a:t> </a:t>
            </a:r>
            <a:r>
              <a:rPr lang="en-US" sz="2600" b="1" strike="noStrike" spc="-1" dirty="0" err="1">
                <a:solidFill>
                  <a:srgbClr val="0B1F3A"/>
                </a:solidFill>
                <a:latin typeface="Cambria"/>
                <a:ea typeface="Cambria"/>
              </a:rPr>
              <a:t>cố</a:t>
            </a:r>
            <a:r>
              <a:rPr lang="en-US" sz="2600" b="1" strike="noStrike" spc="-1" dirty="0">
                <a:solidFill>
                  <a:srgbClr val="0B1F3A"/>
                </a:solidFill>
                <a:latin typeface="Cambria"/>
                <a:ea typeface="Cambria"/>
              </a:rPr>
              <a:t> </a:t>
            </a:r>
            <a:r>
              <a:rPr lang="en-US" sz="2600" b="1" strike="noStrike" spc="-1" dirty="0" err="1">
                <a:solidFill>
                  <a:srgbClr val="0B1F3A"/>
                </a:solidFill>
                <a:latin typeface="Cambria"/>
                <a:ea typeface="Cambria"/>
              </a:rPr>
              <a:t>thực</a:t>
            </a:r>
            <a:r>
              <a:rPr lang="en-US" sz="2600" b="1" strike="noStrike" spc="-1" dirty="0">
                <a:solidFill>
                  <a:srgbClr val="0B1F3A"/>
                </a:solidFill>
                <a:latin typeface="Cambria"/>
                <a:ea typeface="Cambria"/>
              </a:rPr>
              <a:t> </a:t>
            </a:r>
            <a:r>
              <a:rPr lang="en-US" sz="2600" b="1" strike="noStrike" spc="-1" dirty="0" err="1">
                <a:solidFill>
                  <a:srgbClr val="0B1F3A"/>
                </a:solidFill>
                <a:latin typeface="Cambria"/>
                <a:ea typeface="Cambria"/>
              </a:rPr>
              <a:t>tế</a:t>
            </a:r>
            <a:r>
              <a:rPr lang="en-US" sz="2600" b="1" strike="noStrike" spc="-1" dirty="0">
                <a:solidFill>
                  <a:srgbClr val="0B1F3A"/>
                </a:solidFill>
                <a:latin typeface="Cambria"/>
                <a:ea typeface="Cambria"/>
              </a:rPr>
              <a:t> &amp; </a:t>
            </a:r>
            <a:r>
              <a:rPr lang="en-US" sz="2600" b="1" strike="noStrike" spc="-1" dirty="0" err="1">
                <a:solidFill>
                  <a:srgbClr val="0B1F3A"/>
                </a:solidFill>
                <a:latin typeface="Cambria"/>
                <a:ea typeface="Cambria"/>
              </a:rPr>
              <a:t>ài</a:t>
            </a:r>
            <a:r>
              <a:rPr lang="en-US" sz="2600" b="1" strike="noStrike" spc="-1" dirty="0">
                <a:solidFill>
                  <a:srgbClr val="0B1F3A"/>
                </a:solidFill>
                <a:latin typeface="Cambria"/>
                <a:ea typeface="Cambria"/>
              </a:rPr>
              <a:t> </a:t>
            </a:r>
            <a:r>
              <a:rPr lang="en-US" sz="2600" b="1" strike="noStrike" spc="-1" dirty="0" err="1">
                <a:solidFill>
                  <a:srgbClr val="0B1F3A"/>
                </a:solidFill>
                <a:latin typeface="Cambria"/>
                <a:ea typeface="Cambria"/>
              </a:rPr>
              <a:t>học</a:t>
            </a:r>
            <a:r>
              <a:rPr lang="en-US" sz="2600" b="1" strike="noStrike" spc="-1" dirty="0">
                <a:solidFill>
                  <a:srgbClr val="0B1F3A"/>
                </a:solidFill>
                <a:latin typeface="Cambria"/>
                <a:ea typeface="Cambria"/>
              </a:rPr>
              <a:t> </a:t>
            </a:r>
            <a:r>
              <a:rPr lang="en-US" sz="2600" b="1" strike="noStrike" spc="-1" dirty="0" err="1">
                <a:solidFill>
                  <a:srgbClr val="0B1F3A"/>
                </a:solidFill>
                <a:latin typeface="Cambria"/>
                <a:ea typeface="Cambria"/>
              </a:rPr>
              <a:t>kinh</a:t>
            </a:r>
            <a:r>
              <a:rPr lang="en-US" sz="2600" b="1" strike="noStrike" spc="-1" dirty="0">
                <a:solidFill>
                  <a:srgbClr val="0B1F3A"/>
                </a:solidFill>
                <a:latin typeface="Cambria"/>
                <a:ea typeface="Cambria"/>
              </a:rPr>
              <a:t> </a:t>
            </a:r>
            <a:r>
              <a:rPr lang="en-US" sz="2600" b="1" strike="noStrike" spc="-1" dirty="0" err="1">
                <a:solidFill>
                  <a:srgbClr val="0B1F3A"/>
                </a:solidFill>
                <a:latin typeface="Cambria"/>
                <a:ea typeface="Cambria"/>
              </a:rPr>
              <a:t>nghiệm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39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17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0">
            <a:extLst>
              <a:ext uri="{FF2B5EF4-FFF2-40B4-BE49-F238E27FC236}">
                <a16:creationId xmlns:a16="http://schemas.microsoft.com/office/drawing/2014/main" id="{5B4E8519-BA36-4081-842E-89AB54D89C89}"/>
              </a:ext>
            </a:extLst>
          </p:cNvPr>
          <p:cNvSpPr/>
          <p:nvPr/>
        </p:nvSpPr>
        <p:spPr>
          <a:xfrm>
            <a:off x="502293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0" descr="icon_clipboardcheck_white.png">
            <a:extLst>
              <a:ext uri="{FF2B5EF4-FFF2-40B4-BE49-F238E27FC236}">
                <a16:creationId xmlns:a16="http://schemas.microsoft.com/office/drawing/2014/main" id="{C8490EDA-F721-4BF9-8364-AAECAAB8626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32973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79" name="Text 1">
            <a:extLst>
              <a:ext uri="{FF2B5EF4-FFF2-40B4-BE49-F238E27FC236}">
                <a16:creationId xmlns:a16="http://schemas.microsoft.com/office/drawing/2014/main" id="{A391D81E-6DBC-4926-B820-8508723B08D4}"/>
              </a:ext>
            </a:extLst>
          </p:cNvPr>
          <p:cNvSpPr/>
          <p:nvPr/>
        </p:nvSpPr>
        <p:spPr>
          <a:xfrm>
            <a:off x="1160733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TỔNG HỢP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3">
            <a:extLst>
              <a:ext uri="{FF2B5EF4-FFF2-40B4-BE49-F238E27FC236}">
                <a16:creationId xmlns:a16="http://schemas.microsoft.com/office/drawing/2014/main" id="{A34713AF-3596-4147-8B75-4619CDF7599D}"/>
              </a:ext>
            </a:extLst>
          </p:cNvPr>
          <p:cNvSpPr/>
          <p:nvPr/>
        </p:nvSpPr>
        <p:spPr>
          <a:xfrm>
            <a:off x="502293" y="1874520"/>
            <a:ext cx="3492720" cy="397728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59958ADB-A1DB-45A5-AF57-D348E0CBF46B}"/>
              </a:ext>
            </a:extLst>
          </p:cNvPr>
          <p:cNvSpPr/>
          <p:nvPr/>
        </p:nvSpPr>
        <p:spPr>
          <a:xfrm>
            <a:off x="776613" y="214884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7A4325D3-944E-48AE-9779-A2B01B33ADAB}"/>
              </a:ext>
            </a:extLst>
          </p:cNvPr>
          <p:cNvSpPr/>
          <p:nvPr/>
        </p:nvSpPr>
        <p:spPr>
          <a:xfrm>
            <a:off x="776613" y="2148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6">
            <a:extLst>
              <a:ext uri="{FF2B5EF4-FFF2-40B4-BE49-F238E27FC236}">
                <a16:creationId xmlns:a16="http://schemas.microsoft.com/office/drawing/2014/main" id="{B0E6C8E7-A126-49BF-B752-CFD291BB5CF6}"/>
              </a:ext>
            </a:extLst>
          </p:cNvPr>
          <p:cNvSpPr/>
          <p:nvPr/>
        </p:nvSpPr>
        <p:spPr>
          <a:xfrm>
            <a:off x="776613" y="2834640"/>
            <a:ext cx="2944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B1F3A"/>
                </a:solidFill>
                <a:latin typeface="Cambria"/>
                <a:ea typeface="Cambria"/>
              </a:rPr>
              <a:t>Test bị Flaky trong Jenkins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7">
            <a:extLst>
              <a:ext uri="{FF2B5EF4-FFF2-40B4-BE49-F238E27FC236}">
                <a16:creationId xmlns:a16="http://schemas.microsoft.com/office/drawing/2014/main" id="{564991E6-E61C-41F5-B94A-D36E54DB28C9}"/>
              </a:ext>
            </a:extLst>
          </p:cNvPr>
          <p:cNvSpPr/>
          <p:nvPr/>
        </p:nvSpPr>
        <p:spPr>
          <a:xfrm>
            <a:off x="776613" y="3520440"/>
            <a:ext cx="294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7">
                <a:solidFill>
                  <a:srgbClr val="B3261E"/>
                </a:solidFill>
                <a:latin typeface="Arial"/>
                <a:ea typeface="Arial"/>
              </a:rPr>
              <a:t>NGUYÊN NHÂN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7663880F-83D7-468F-A7F8-C68BBEB974B7}"/>
              </a:ext>
            </a:extLst>
          </p:cNvPr>
          <p:cNvSpPr/>
          <p:nvPr/>
        </p:nvSpPr>
        <p:spPr>
          <a:xfrm>
            <a:off x="776613" y="3794760"/>
            <a:ext cx="2944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Health check chỉ kiểm tra "sống", không kiểm tra DB đã sẵn sàng.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702A24AD-3243-4402-B400-8F213394E828}"/>
              </a:ext>
            </a:extLst>
          </p:cNvPr>
          <p:cNvSpPr/>
          <p:nvPr/>
        </p:nvSpPr>
        <p:spPr>
          <a:xfrm>
            <a:off x="776613" y="4754880"/>
            <a:ext cx="294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7">
                <a:solidFill>
                  <a:srgbClr val="1E7D46"/>
                </a:solidFill>
                <a:latin typeface="Arial"/>
                <a:ea typeface="Arial"/>
              </a:rPr>
              <a:t>GIẢI PHÁP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0">
            <a:extLst>
              <a:ext uri="{FF2B5EF4-FFF2-40B4-BE49-F238E27FC236}">
                <a16:creationId xmlns:a16="http://schemas.microsoft.com/office/drawing/2014/main" id="{C689B263-FCC3-4B20-9C39-986E4913FCDD}"/>
              </a:ext>
            </a:extLst>
          </p:cNvPr>
          <p:cNvSpPr/>
          <p:nvPr/>
        </p:nvSpPr>
        <p:spPr>
          <a:xfrm>
            <a:off x="776613" y="5029200"/>
            <a:ext cx="29440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Đổi health check → bắt buộc truy vấn MySQL thật (readiness check).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1">
            <a:extLst>
              <a:ext uri="{FF2B5EF4-FFF2-40B4-BE49-F238E27FC236}">
                <a16:creationId xmlns:a16="http://schemas.microsoft.com/office/drawing/2014/main" id="{42606D6D-3840-4099-96EF-D84378E7F388}"/>
              </a:ext>
            </a:extLst>
          </p:cNvPr>
          <p:cNvSpPr/>
          <p:nvPr/>
        </p:nvSpPr>
        <p:spPr>
          <a:xfrm>
            <a:off x="4205613" y="1874520"/>
            <a:ext cx="3492720" cy="397728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2">
            <a:extLst>
              <a:ext uri="{FF2B5EF4-FFF2-40B4-BE49-F238E27FC236}">
                <a16:creationId xmlns:a16="http://schemas.microsoft.com/office/drawing/2014/main" id="{4E5BE5A2-C896-4D0F-9146-F1FED53F4255}"/>
              </a:ext>
            </a:extLst>
          </p:cNvPr>
          <p:cNvSpPr/>
          <p:nvPr/>
        </p:nvSpPr>
        <p:spPr>
          <a:xfrm>
            <a:off x="4479933" y="214884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3">
            <a:extLst>
              <a:ext uri="{FF2B5EF4-FFF2-40B4-BE49-F238E27FC236}">
                <a16:creationId xmlns:a16="http://schemas.microsoft.com/office/drawing/2014/main" id="{BAE543C5-8F5F-4A40-ADA9-E19D3C828220}"/>
              </a:ext>
            </a:extLst>
          </p:cNvPr>
          <p:cNvSpPr/>
          <p:nvPr/>
        </p:nvSpPr>
        <p:spPr>
          <a:xfrm>
            <a:off x="4479933" y="2148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5A4EF085-66AE-436C-8BF2-B0338DD91916}"/>
              </a:ext>
            </a:extLst>
          </p:cNvPr>
          <p:cNvSpPr/>
          <p:nvPr/>
        </p:nvSpPr>
        <p:spPr>
          <a:xfrm>
            <a:off x="4479933" y="2834640"/>
            <a:ext cx="2944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B1F3A"/>
                </a:solidFill>
                <a:latin typeface="Cambria"/>
                <a:ea typeface="Cambria"/>
              </a:rPr>
              <a:t>MySQL bị OOM-kill trên EC2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46D797A9-2080-4EC5-AEFF-4A47B5944B1B}"/>
              </a:ext>
            </a:extLst>
          </p:cNvPr>
          <p:cNvSpPr/>
          <p:nvPr/>
        </p:nvSpPr>
        <p:spPr>
          <a:xfrm>
            <a:off x="4479933" y="3520440"/>
            <a:ext cx="294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7">
                <a:solidFill>
                  <a:srgbClr val="B3261E"/>
                </a:solidFill>
                <a:latin typeface="Arial"/>
                <a:ea typeface="Arial"/>
              </a:rPr>
              <a:t>NGUYÊN NHÂN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6">
            <a:extLst>
              <a:ext uri="{FF2B5EF4-FFF2-40B4-BE49-F238E27FC236}">
                <a16:creationId xmlns:a16="http://schemas.microsoft.com/office/drawing/2014/main" id="{685E7D40-2F0D-40D3-A6D1-B63B40FC1FC9}"/>
              </a:ext>
            </a:extLst>
          </p:cNvPr>
          <p:cNvSpPr/>
          <p:nvPr/>
        </p:nvSpPr>
        <p:spPr>
          <a:xfrm>
            <a:off x="4479933" y="3794760"/>
            <a:ext cx="2944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Build tốn RAM chạy cùng lúc với stack đang sống — máy chỉ có 911MB RAM.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254CCA87-2114-4026-B3CB-1B2E7932E983}"/>
              </a:ext>
            </a:extLst>
          </p:cNvPr>
          <p:cNvSpPr/>
          <p:nvPr/>
        </p:nvSpPr>
        <p:spPr>
          <a:xfrm>
            <a:off x="4479933" y="4754880"/>
            <a:ext cx="294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7">
                <a:solidFill>
                  <a:srgbClr val="1E7D46"/>
                </a:solidFill>
                <a:latin typeface="Arial"/>
                <a:ea typeface="Arial"/>
              </a:rPr>
              <a:t>GIẢI PHÁP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97AAC42C-6D29-461B-9C5B-CDE2F8D95DAB}"/>
              </a:ext>
            </a:extLst>
          </p:cNvPr>
          <p:cNvSpPr/>
          <p:nvPr/>
        </p:nvSpPr>
        <p:spPr>
          <a:xfrm>
            <a:off x="4479933" y="5029200"/>
            <a:ext cx="29440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Thêm swap 2GB + tái thiết kế "Build once, deploy everywhere".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9">
            <a:extLst>
              <a:ext uri="{FF2B5EF4-FFF2-40B4-BE49-F238E27FC236}">
                <a16:creationId xmlns:a16="http://schemas.microsoft.com/office/drawing/2014/main" id="{392192E8-D24C-4DFA-BAC1-E41600BC4884}"/>
              </a:ext>
            </a:extLst>
          </p:cNvPr>
          <p:cNvSpPr/>
          <p:nvPr/>
        </p:nvSpPr>
        <p:spPr>
          <a:xfrm>
            <a:off x="7908933" y="1874520"/>
            <a:ext cx="3492720" cy="397728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0">
            <a:extLst>
              <a:ext uri="{FF2B5EF4-FFF2-40B4-BE49-F238E27FC236}">
                <a16:creationId xmlns:a16="http://schemas.microsoft.com/office/drawing/2014/main" id="{C489BCB0-61E4-43A9-997E-2483A90A2F7E}"/>
              </a:ext>
            </a:extLst>
          </p:cNvPr>
          <p:cNvSpPr/>
          <p:nvPr/>
        </p:nvSpPr>
        <p:spPr>
          <a:xfrm>
            <a:off x="8183253" y="2148840"/>
            <a:ext cx="502560" cy="502560"/>
          </a:xfrm>
          <a:prstGeom prst="roundRect">
            <a:avLst>
              <a:gd name="adj" fmla="val 90909"/>
            </a:avLst>
          </a:prstGeom>
          <a:solidFill>
            <a:srgbClr val="B3261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1">
            <a:extLst>
              <a:ext uri="{FF2B5EF4-FFF2-40B4-BE49-F238E27FC236}">
                <a16:creationId xmlns:a16="http://schemas.microsoft.com/office/drawing/2014/main" id="{D0EF79A9-727C-4F15-B390-1A4FCF554710}"/>
              </a:ext>
            </a:extLst>
          </p:cNvPr>
          <p:cNvSpPr/>
          <p:nvPr/>
        </p:nvSpPr>
        <p:spPr>
          <a:xfrm>
            <a:off x="8183253" y="2148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2">
            <a:extLst>
              <a:ext uri="{FF2B5EF4-FFF2-40B4-BE49-F238E27FC236}">
                <a16:creationId xmlns:a16="http://schemas.microsoft.com/office/drawing/2014/main" id="{AA2226BD-85FB-4CBB-B5A2-A0DEB0973437}"/>
              </a:ext>
            </a:extLst>
          </p:cNvPr>
          <p:cNvSpPr/>
          <p:nvPr/>
        </p:nvSpPr>
        <p:spPr>
          <a:xfrm>
            <a:off x="8183253" y="2834640"/>
            <a:ext cx="2944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B1F3A"/>
                </a:solidFill>
                <a:latin typeface="Cambria"/>
                <a:ea typeface="Cambria"/>
              </a:rPr>
              <a:t>Hết dung lượng đĩa EC2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3">
            <a:extLst>
              <a:ext uri="{FF2B5EF4-FFF2-40B4-BE49-F238E27FC236}">
                <a16:creationId xmlns:a16="http://schemas.microsoft.com/office/drawing/2014/main" id="{45CFEE7A-FB73-4346-A61A-A64727BEDE53}"/>
              </a:ext>
            </a:extLst>
          </p:cNvPr>
          <p:cNvSpPr/>
          <p:nvPr/>
        </p:nvSpPr>
        <p:spPr>
          <a:xfrm>
            <a:off x="8183253" y="3520440"/>
            <a:ext cx="294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7">
                <a:solidFill>
                  <a:srgbClr val="B3261E"/>
                </a:solidFill>
                <a:latin typeface="Arial"/>
                <a:ea typeface="Arial"/>
              </a:rPr>
              <a:t>NGUYÊN NHÂN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52F06760-4DDC-40C3-88E6-973EFEEAD237}"/>
              </a:ext>
            </a:extLst>
          </p:cNvPr>
          <p:cNvSpPr/>
          <p:nvPr/>
        </p:nvSpPr>
        <p:spPr>
          <a:xfrm>
            <a:off x="8183253" y="3794760"/>
            <a:ext cx="2944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Tích lũy build cache thừa qua nhiều lần deploy trước đó.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5">
            <a:extLst>
              <a:ext uri="{FF2B5EF4-FFF2-40B4-BE49-F238E27FC236}">
                <a16:creationId xmlns:a16="http://schemas.microsoft.com/office/drawing/2014/main" id="{E0C38A22-6500-416A-82F9-90AB39A271D8}"/>
              </a:ext>
            </a:extLst>
          </p:cNvPr>
          <p:cNvSpPr/>
          <p:nvPr/>
        </p:nvSpPr>
        <p:spPr>
          <a:xfrm>
            <a:off x="8183253" y="4754880"/>
            <a:ext cx="294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7">
                <a:solidFill>
                  <a:srgbClr val="1E7D46"/>
                </a:solidFill>
                <a:latin typeface="Arial"/>
                <a:ea typeface="Arial"/>
              </a:rPr>
              <a:t>GIẢI PHÁP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6">
            <a:extLst>
              <a:ext uri="{FF2B5EF4-FFF2-40B4-BE49-F238E27FC236}">
                <a16:creationId xmlns:a16="http://schemas.microsoft.com/office/drawing/2014/main" id="{46E6298D-1C36-49FC-ABE4-357150D72B40}"/>
              </a:ext>
            </a:extLst>
          </p:cNvPr>
          <p:cNvSpPr/>
          <p:nvPr/>
        </p:nvSpPr>
        <p:spPr>
          <a:xfrm>
            <a:off x="8183253" y="5029200"/>
            <a:ext cx="29440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6233B"/>
                </a:solidFill>
                <a:latin typeface="Arial"/>
                <a:ea typeface="Arial"/>
              </a:rPr>
              <a:t>Dọn cache; tăng dung lượng EBS từ 6.8GB lên 20GB.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7">
            <a:extLst>
              <a:ext uri="{FF2B5EF4-FFF2-40B4-BE49-F238E27FC236}">
                <a16:creationId xmlns:a16="http://schemas.microsoft.com/office/drawing/2014/main" id="{8BF7B774-B91A-4570-9ABB-EE2EF98CAC97}"/>
              </a:ext>
            </a:extLst>
          </p:cNvPr>
          <p:cNvSpPr/>
          <p:nvPr/>
        </p:nvSpPr>
        <p:spPr>
          <a:xfrm>
            <a:off x="502293" y="5989320"/>
            <a:ext cx="10908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Cả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3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sự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cố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đều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xảy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ra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thật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trên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hạ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tầng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đang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vận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hành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—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không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phải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mô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 </a:t>
            </a:r>
            <a:r>
              <a:rPr lang="en-US" sz="1250" b="0" i="1" strike="noStrike" spc="-1" dirty="0" err="1">
                <a:solidFill>
                  <a:srgbClr val="5B7A9E"/>
                </a:solidFill>
                <a:latin typeface="Arial"/>
                <a:ea typeface="Arial"/>
              </a:rPr>
              <a:t>phỏng</a:t>
            </a:r>
            <a:r>
              <a:rPr lang="en-US" sz="1250" b="0" i="1" strike="noStrike" spc="-1" dirty="0">
                <a:solidFill>
                  <a:srgbClr val="5B7A9E"/>
                </a:solidFill>
                <a:latin typeface="Arial"/>
                <a:ea typeface="Arial"/>
              </a:rPr>
              <a:t>.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8">
            <a:extLst>
              <a:ext uri="{FF2B5EF4-FFF2-40B4-BE49-F238E27FC236}">
                <a16:creationId xmlns:a16="http://schemas.microsoft.com/office/drawing/2014/main" id="{98BF6161-B49E-4795-80AF-2F32288258A9}"/>
              </a:ext>
            </a:extLst>
          </p:cNvPr>
          <p:cNvSpPr/>
          <p:nvPr/>
        </p:nvSpPr>
        <p:spPr>
          <a:xfrm>
            <a:off x="502293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 dirty="0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 0"/>
          <p:cNvSpPr/>
          <p:nvPr/>
        </p:nvSpPr>
        <p:spPr>
          <a:xfrm>
            <a:off x="64008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KẾT QUẢ ĐẠT ĐƯỢC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640080" y="8229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Tổng kết đề tài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2"/>
          <p:cNvSpPr/>
          <p:nvPr/>
        </p:nvSpPr>
        <p:spPr>
          <a:xfrm>
            <a:off x="640080" y="187452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3"/>
          <p:cNvSpPr/>
          <p:nvPr/>
        </p:nvSpPr>
        <p:spPr>
          <a:xfrm>
            <a:off x="640080" y="210312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00B4D8"/>
                </a:solidFill>
                <a:latin typeface="Cambria"/>
                <a:ea typeface="Cambria"/>
              </a:rPr>
              <a:t>13/13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640080" y="306324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Test tự động pass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(không flaky)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5"/>
          <p:cNvSpPr/>
          <p:nvPr/>
        </p:nvSpPr>
        <p:spPr>
          <a:xfrm>
            <a:off x="4416480" y="187452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4416480" y="210312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00B4D8"/>
                </a:solidFill>
                <a:latin typeface="Cambria"/>
                <a:ea typeface="Cambria"/>
              </a:rPr>
              <a:t>6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7"/>
          <p:cNvSpPr/>
          <p:nvPr/>
        </p:nvSpPr>
        <p:spPr>
          <a:xfrm>
            <a:off x="4416480" y="306324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Module Backend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hoàn chỉnh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8"/>
          <p:cNvSpPr/>
          <p:nvPr/>
        </p:nvSpPr>
        <p:spPr>
          <a:xfrm>
            <a:off x="8192880" y="187452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8192880" y="210312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00B4D8"/>
                </a:solidFill>
                <a:latin typeface="Cambria"/>
                <a:ea typeface="Cambria"/>
              </a:rPr>
              <a:t>7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10"/>
          <p:cNvSpPr/>
          <p:nvPr/>
        </p:nvSpPr>
        <p:spPr>
          <a:xfrm>
            <a:off x="8192880" y="306324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Trang Frontend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hoàn chỉnh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1"/>
          <p:cNvSpPr/>
          <p:nvPr/>
        </p:nvSpPr>
        <p:spPr>
          <a:xfrm>
            <a:off x="640080" y="411480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640080" y="434340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pc="-1" dirty="0">
                <a:solidFill>
                  <a:srgbClr val="00B4D8"/>
                </a:solidFill>
                <a:latin typeface="Cambria"/>
                <a:ea typeface="Cambria"/>
              </a:rPr>
              <a:t>3</a:t>
            </a:r>
            <a:endParaRPr lang="en-US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640080" y="530352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Sự cố thực tế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đã khắc phục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14"/>
          <p:cNvSpPr/>
          <p:nvPr/>
        </p:nvSpPr>
        <p:spPr>
          <a:xfrm>
            <a:off x="4416480" y="411480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15"/>
          <p:cNvSpPr/>
          <p:nvPr/>
        </p:nvSpPr>
        <p:spPr>
          <a:xfrm>
            <a:off x="4416480" y="434340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00B4D8"/>
                </a:solidFill>
                <a:latin typeface="Cambria"/>
                <a:ea typeface="Cambria"/>
              </a:rPr>
              <a:t>100%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4416480" y="530352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Pipeline CI/CD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tự động hoá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17"/>
          <p:cNvSpPr/>
          <p:nvPr/>
        </p:nvSpPr>
        <p:spPr>
          <a:xfrm>
            <a:off x="8192880" y="411480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42B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18"/>
          <p:cNvSpPr/>
          <p:nvPr/>
        </p:nvSpPr>
        <p:spPr>
          <a:xfrm>
            <a:off x="8192880" y="434340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00B4D8"/>
                </a:solidFill>
                <a:latin typeface="Cambria"/>
                <a:ea typeface="Cambria"/>
              </a:rPr>
              <a:t>24/7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19"/>
          <p:cNvSpPr/>
          <p:nvPr/>
        </p:nvSpPr>
        <p:spPr>
          <a:xfrm>
            <a:off x="8192880" y="5303520"/>
            <a:ext cx="3520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Website vận hành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7D4E8"/>
                </a:solidFill>
                <a:latin typeface="Arial"/>
                <a:ea typeface="Arial"/>
              </a:rPr>
              <a:t>với HTTPS trên AWS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20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8FA3C4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21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18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640080" y="384120"/>
            <a:ext cx="502560" cy="502560"/>
          </a:xfrm>
          <a:prstGeom prst="ellipse">
            <a:avLst/>
          </a:prstGeom>
          <a:solidFill>
            <a:srgbClr val="0B1F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8" name="Image 0" descr="icon_lightbulb_white.png"/>
          <p:cNvPicPr/>
          <p:nvPr/>
        </p:nvPicPr>
        <p:blipFill>
          <a:blip r:embed="rId3"/>
          <a:stretch/>
        </p:blipFill>
        <p:spPr>
          <a:xfrm>
            <a:off x="770760" y="5148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39" name="Text 1"/>
          <p:cNvSpPr/>
          <p:nvPr/>
        </p:nvSpPr>
        <p:spPr>
          <a:xfrm>
            <a:off x="129852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00B4D8"/>
                </a:solidFill>
                <a:latin typeface="Arial"/>
                <a:ea typeface="Arial"/>
              </a:rPr>
              <a:t>TƯƠNG LAI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2"/>
          <p:cNvSpPr/>
          <p:nvPr/>
        </p:nvSpPr>
        <p:spPr>
          <a:xfrm>
            <a:off x="1298520" y="777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B1F3A"/>
                </a:solidFill>
                <a:latin typeface="Cambria"/>
                <a:ea typeface="Cambria"/>
              </a:rPr>
              <a:t>Hướng phát triển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3"/>
          <p:cNvSpPr/>
          <p:nvPr/>
        </p:nvSpPr>
        <p:spPr>
          <a:xfrm>
            <a:off x="640080" y="1920240"/>
            <a:ext cx="523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4"/>
          <p:cNvSpPr/>
          <p:nvPr/>
        </p:nvSpPr>
        <p:spPr>
          <a:xfrm>
            <a:off x="960120" y="224028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3" name="Image 1" descr="icon_rocket_white.png"/>
          <p:cNvPicPr/>
          <p:nvPr/>
        </p:nvPicPr>
        <p:blipFill>
          <a:blip r:embed="rId4"/>
          <a:stretch/>
        </p:blipFill>
        <p:spPr>
          <a:xfrm>
            <a:off x="1090800" y="237096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44" name="Text 5"/>
          <p:cNvSpPr/>
          <p:nvPr/>
        </p:nvSpPr>
        <p:spPr>
          <a:xfrm>
            <a:off x="1645920" y="2240280"/>
            <a:ext cx="3949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Tên miền chính thức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6"/>
          <p:cNvSpPr/>
          <p:nvPr/>
        </p:nvSpPr>
        <p:spPr>
          <a:xfrm>
            <a:off x="960120" y="2880360"/>
            <a:ext cx="4590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Đăng ký domain thật, thay sslip.io, kích hoạt GitHub webhook tự động.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7"/>
          <p:cNvSpPr/>
          <p:nvPr/>
        </p:nvSpPr>
        <p:spPr>
          <a:xfrm>
            <a:off x="6327720" y="1920240"/>
            <a:ext cx="523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8"/>
          <p:cNvSpPr/>
          <p:nvPr/>
        </p:nvSpPr>
        <p:spPr>
          <a:xfrm>
            <a:off x="6647760" y="224028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8" name="Image 2" descr="icon_rocket_white.png"/>
          <p:cNvPicPr/>
          <p:nvPr/>
        </p:nvPicPr>
        <p:blipFill>
          <a:blip r:embed="rId4"/>
          <a:stretch/>
        </p:blipFill>
        <p:spPr>
          <a:xfrm>
            <a:off x="6778440" y="237096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49" name="Text 9"/>
          <p:cNvSpPr/>
          <p:nvPr/>
        </p:nvSpPr>
        <p:spPr>
          <a:xfrm>
            <a:off x="7333560" y="2240280"/>
            <a:ext cx="3949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Mở rộng kiểm thử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10"/>
          <p:cNvSpPr/>
          <p:nvPr/>
        </p:nvSpPr>
        <p:spPr>
          <a:xfrm>
            <a:off x="6647760" y="2880360"/>
            <a:ext cx="4590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Bổ sung test cho Notifications, Label, Comment và kiểm thử tầng API độc lập.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1"/>
          <p:cNvSpPr/>
          <p:nvPr/>
        </p:nvSpPr>
        <p:spPr>
          <a:xfrm>
            <a:off x="640080" y="4206240"/>
            <a:ext cx="523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2"/>
          <p:cNvSpPr/>
          <p:nvPr/>
        </p:nvSpPr>
        <p:spPr>
          <a:xfrm>
            <a:off x="960120" y="452628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3" name="Image 3" descr="icon_rocket_white.png"/>
          <p:cNvPicPr/>
          <p:nvPr/>
        </p:nvPicPr>
        <p:blipFill>
          <a:blip r:embed="rId4"/>
          <a:stretch/>
        </p:blipFill>
        <p:spPr>
          <a:xfrm>
            <a:off x="1090800" y="465696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54" name="Text 13"/>
          <p:cNvSpPr/>
          <p:nvPr/>
        </p:nvSpPr>
        <p:spPr>
          <a:xfrm>
            <a:off x="1645920" y="4526280"/>
            <a:ext cx="3949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Cảnh báo tự động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14"/>
          <p:cNvSpPr/>
          <p:nvPr/>
        </p:nvSpPr>
        <p:spPr>
          <a:xfrm>
            <a:off x="960120" y="5166360"/>
            <a:ext cx="4590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Thêm Alerting trong Grafana — gửi email/Slack khi chỉ số vượt ngưỡng.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5"/>
          <p:cNvSpPr/>
          <p:nvPr/>
        </p:nvSpPr>
        <p:spPr>
          <a:xfrm>
            <a:off x="6327720" y="4206240"/>
            <a:ext cx="523008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01520" dist="25560" dir="5400000" algn="bl" rotWithShape="0">
              <a:srgbClr val="1B2A44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16"/>
          <p:cNvSpPr/>
          <p:nvPr/>
        </p:nvSpPr>
        <p:spPr>
          <a:xfrm>
            <a:off x="6647760" y="4526280"/>
            <a:ext cx="502560" cy="5025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8" name="Image 4" descr="icon_rocket_white.png"/>
          <p:cNvPicPr/>
          <p:nvPr/>
        </p:nvPicPr>
        <p:blipFill>
          <a:blip r:embed="rId4"/>
          <a:stretch/>
        </p:blipFill>
        <p:spPr>
          <a:xfrm>
            <a:off x="6778440" y="465696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59" name="Text 17"/>
          <p:cNvSpPr/>
          <p:nvPr/>
        </p:nvSpPr>
        <p:spPr>
          <a:xfrm>
            <a:off x="7333560" y="4526280"/>
            <a:ext cx="3949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B1F3A"/>
                </a:solidFill>
                <a:latin typeface="Cambria"/>
                <a:ea typeface="Cambria"/>
              </a:rPr>
              <a:t>Mở rộng hạ tầng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18"/>
          <p:cNvSpPr/>
          <p:nvPr/>
        </p:nvSpPr>
        <p:spPr>
          <a:xfrm>
            <a:off x="6647760" y="5166360"/>
            <a:ext cx="45900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16233B"/>
                </a:solidFill>
                <a:latin typeface="Arial"/>
                <a:ea typeface="Arial"/>
              </a:rPr>
              <a:t>Nâng cấp instance, cân nhắc Amazon RDS / ECS khi cần phục vụ tải lớn hơn.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19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7">
                <a:solidFill>
                  <a:srgbClr val="A9B6CC"/>
                </a:solidFill>
                <a:latin typeface="Arial"/>
                <a:ea typeface="Arial"/>
              </a:rPr>
              <a:t>CI/CD • KIỂM THỬ TỰ ĐỘNG • GIÁM SÁT TRÊN AWS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20"/>
          <p:cNvSpPr/>
          <p:nvPr/>
        </p:nvSpPr>
        <p:spPr>
          <a:xfrm>
            <a:off x="115214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B6B85"/>
                </a:solidFill>
                <a:latin typeface="Arial"/>
                <a:ea typeface="Arial"/>
              </a:rPr>
              <a:t>19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 0"/>
          <p:cNvSpPr/>
          <p:nvPr/>
        </p:nvSpPr>
        <p:spPr>
          <a:xfrm>
            <a:off x="640080" y="228600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CẢM ƠN QUÝ THẦY VÀ CÁC BẠN</a:t>
            </a:r>
            <a:endParaRPr lang="en-US" sz="4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1"/>
          <p:cNvSpPr/>
          <p:nvPr/>
        </p:nvSpPr>
        <p:spPr>
          <a:xfrm>
            <a:off x="640080" y="30632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00B4D8"/>
                </a:solidFill>
                <a:latin typeface="Cambria"/>
                <a:ea typeface="Cambria"/>
              </a:rPr>
              <a:t>ĐÃ LẮNG NGHE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2"/>
          <p:cNvSpPr/>
          <p:nvPr/>
        </p:nvSpPr>
        <p:spPr>
          <a:xfrm>
            <a:off x="5184360" y="3977640"/>
            <a:ext cx="1828800" cy="360"/>
          </a:xfrm>
          <a:prstGeom prst="line">
            <a:avLst/>
          </a:prstGeom>
          <a:ln w="19050">
            <a:solidFill>
              <a:srgbClr val="2A3F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3"/>
          <p:cNvSpPr/>
          <p:nvPr/>
        </p:nvSpPr>
        <p:spPr>
          <a:xfrm>
            <a:off x="640080" y="42062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  <a:ea typeface="Arial"/>
              </a:rPr>
              <a:t>Nguyễn Đức Nhiên  —  25210160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4"/>
          <p:cNvSpPr/>
          <p:nvPr/>
        </p:nvSpPr>
        <p:spPr>
          <a:xfrm>
            <a:off x="640080" y="45262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7D4E8"/>
                </a:solidFill>
                <a:latin typeface="Arial"/>
                <a:ea typeface="Arial"/>
              </a:rPr>
              <a:t>GVHD: ThS. Trần Anh Dũng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5"/>
          <p:cNvSpPr/>
          <p:nvPr/>
        </p:nvSpPr>
        <p:spPr>
          <a:xfrm>
            <a:off x="640080" y="51206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6C7FA0"/>
                </a:solidFill>
                <a:latin typeface="Arial"/>
                <a:ea typeface="Arial"/>
              </a:rPr>
              <a:t>github.com/nguyenducnhien/taskflow-cicd-thesis   •   52.76.105.50.sslip.io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</TotalTime>
  <Words>2066</Words>
  <Application>Microsoft Office PowerPoint</Application>
  <PresentationFormat>Widescreen</PresentationFormat>
  <Paragraphs>302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</vt:lpstr>
      <vt:lpstr>Consolas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CI/CD kết hợp kiểm thử tự động và giám sát ứng dụng trên AWS</dc:title>
  <dc:subject>PptxGenJS Presentation</dc:subject>
  <dc:creator>Nguyễn Đức Nhiên</dc:creator>
  <dc:description/>
  <cp:lastModifiedBy>Admin</cp:lastModifiedBy>
  <cp:revision>7</cp:revision>
  <dcterms:created xsi:type="dcterms:W3CDTF">2026-09-25T07:00:10Z</dcterms:created>
  <dcterms:modified xsi:type="dcterms:W3CDTF">2026-09-25T15:14:41Z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20</vt:r8>
  </property>
  <property fmtid="{D5CDD505-2E9C-101B-9397-08002B2CF9AE}" pid="3" name="PresentationFormat">
    <vt:lpwstr>On-screen Show (16:9)</vt:lpwstr>
  </property>
  <property fmtid="{D5CDD505-2E9C-101B-9397-08002B2CF9AE}" pid="4" name="Slides">
    <vt:r8>20</vt:r8>
  </property>
</Properties>
</file>